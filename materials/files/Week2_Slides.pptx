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71c328f7-ec06-ad56-9682-671f4806e618}">
          <p14:sldIdLst>
            <p14:sldId id="256"/>
            <p14:sldId id="257"/>
          </p14:sldIdLst>
        </p14:section>
        <p14:section name="Updates and Recap" id="{3e0a7589-5cb3-8ad9-d4b7-f89fb2b545f1}">
          <p14:sldIdLst>
            <p14:sldId id="258"/>
            <p14:sldId id="259"/>
            <p14:sldId id="260"/>
            <p14:sldId id="261"/>
            <p14:sldId id="262"/>
          </p14:sldIdLst>
        </p14:section>
        <p14:section name="Lecture" id="{e6d441e3-fe2a-4148-b540-aca6f493f066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Hands-On 1" id="{a807b7bb-506e-a90e-a3fc-0a49c5a81209}">
          <p14:sldIdLst>
            <p14:sldId id="273"/>
          </p14:sldIdLst>
        </p14:section>
        <p14:section name="Break" id="{dd358d8d-7eec-270e-69d6-c3ece146bd0e}">
          <p14:sldIdLst>
            <p14:sldId id="274"/>
          </p14:sldIdLst>
        </p14:section>
        <p14:section name="Hands-On 2" id="{de042060-33ab-441c-0908-71716e43fc2f}">
          <p14:sldIdLst>
            <p14:sldId id="275"/>
            <p14:sldId id="276"/>
          </p14:sldIdLst>
        </p14:section>
        <p14:section name="Discussion" id="{0fc7a96c-b6ae-473d-e3f9-28f750aa1b2f}">
          <p14:sldIdLst>
            <p14:sldId id="277"/>
          </p14:sldIdLst>
        </p14:section>
        <p14:section name="Reflection" id="{319541cf-9b7b-834e-dcc9-6aeca1e8fa35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14984"/>
            <a:ext cx="10661904" cy="3977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280160" y="2011680"/>
            <a:ext cx="978408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280160" y="3017520"/>
            <a:ext cx="9784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585216"/>
            <a:ext cx="11064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1417320"/>
            <a:ext cx="10570464" cy="3200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13816" y="548640"/>
            <a:ext cx="10570464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3816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Legal Research  ·  Week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1417320"/>
            <a:ext cx="10570464" cy="320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13816" y="548640"/>
            <a:ext cx="10570464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3816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Legal Research  ·  Week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280160" y="201168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Legal Research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1280160" y="30175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Confidentiality Issues and Advanced Prompting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78408" y="548640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[Instructor name] ([email address])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78408" y="5943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[Institution]  ·  [Date]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548640"/>
            <a:ext cx="1057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pic>
        <p:nvPicPr>
          <p:cNvPr id="3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368" y="256032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3840480"/>
            <a:ext cx="1456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AI Updates and Recap</a:t>
            </a:r>
            <a:endParaRPr lang="en-US" sz="1900" dirty="0"/>
          </a:p>
        </p:txBody>
      </p:sp>
      <p:pic>
        <p:nvPicPr>
          <p:cNvPr id="5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2560320"/>
            <a:ext cx="1005840" cy="10058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36520" y="3840480"/>
            <a:ext cx="1456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</a:t>
            </a:r>
            <a:endParaRPr lang="en-US" sz="1900" dirty="0"/>
          </a:p>
        </p:txBody>
      </p:sp>
      <p:pic>
        <p:nvPicPr>
          <p:cNvPr id="7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776" y="2560320"/>
            <a:ext cx="1005840" cy="10058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459224" y="3840480"/>
            <a:ext cx="1456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Exercise 1</a:t>
            </a:r>
            <a:endParaRPr lang="en-US" sz="1900" dirty="0"/>
          </a:p>
        </p:txBody>
      </p:sp>
      <p:pic>
        <p:nvPicPr>
          <p:cNvPr id="9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480" y="2560320"/>
            <a:ext cx="1005840" cy="10058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281928" y="3840480"/>
            <a:ext cx="1456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1900" dirty="0"/>
          </a:p>
        </p:txBody>
      </p:sp>
      <p:pic>
        <p:nvPicPr>
          <p:cNvPr id="11" name="icon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184" y="2560320"/>
            <a:ext cx="1005840" cy="100584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104632" y="3840480"/>
            <a:ext cx="1456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Exercise 2</a:t>
            </a:r>
            <a:endParaRPr lang="en-US" sz="1900" dirty="0"/>
          </a:p>
        </p:txBody>
      </p:sp>
      <p:pic>
        <p:nvPicPr>
          <p:cNvPr id="13" name="icon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2888" y="2560320"/>
            <a:ext cx="1005840" cy="100584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9927336" y="3840480"/>
            <a:ext cx="1456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585216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AI Updates and Recap of Last Week</a:t>
            </a:r>
            <a:endParaRPr lang="en-US" sz="4400" dirty="0"/>
          </a:p>
        </p:txBody>
      </p:sp>
      <p:sp>
        <p:nvSpPr>
          <p:cNvPr id="3" name="tracker line"/>
          <p:cNvSpPr/>
          <p:nvPr/>
        </p:nvSpPr>
        <p:spPr>
          <a:xfrm>
            <a:off x="859536" y="5120640"/>
            <a:ext cx="10479024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racker stop 1"/>
          <p:cNvSpPr/>
          <p:nvPr/>
        </p:nvSpPr>
        <p:spPr>
          <a:xfrm>
            <a:off x="658368" y="4942332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and Recap</a:t>
            </a:r>
            <a:endParaRPr lang="en-US" sz="1500" dirty="0"/>
          </a:p>
        </p:txBody>
      </p:sp>
      <p:sp>
        <p:nvSpPr>
          <p:cNvPr id="6" name="tracker stop 2"/>
          <p:cNvSpPr/>
          <p:nvPr/>
        </p:nvSpPr>
        <p:spPr>
          <a:xfrm>
            <a:off x="249174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594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500" dirty="0"/>
          </a:p>
        </p:txBody>
      </p:sp>
      <p:sp>
        <p:nvSpPr>
          <p:cNvPr id="8" name="tracker stop 3"/>
          <p:cNvSpPr/>
          <p:nvPr/>
        </p:nvSpPr>
        <p:spPr>
          <a:xfrm>
            <a:off x="4238244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2444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1</a:t>
            </a:r>
            <a:endParaRPr lang="en-US" sz="1500" dirty="0"/>
          </a:p>
        </p:txBody>
      </p:sp>
      <p:sp>
        <p:nvSpPr>
          <p:cNvPr id="10" name="tracker stop 4"/>
          <p:cNvSpPr/>
          <p:nvPr/>
        </p:nvSpPr>
        <p:spPr>
          <a:xfrm>
            <a:off x="5984748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98948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500" dirty="0"/>
          </a:p>
        </p:txBody>
      </p:sp>
      <p:sp>
        <p:nvSpPr>
          <p:cNvPr id="12" name="tracker stop 5"/>
          <p:cNvSpPr/>
          <p:nvPr/>
        </p:nvSpPr>
        <p:spPr>
          <a:xfrm>
            <a:off x="7731252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5452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2</a:t>
            </a:r>
            <a:endParaRPr lang="en-US" sz="1500" dirty="0"/>
          </a:p>
        </p:txBody>
      </p:sp>
      <p:sp>
        <p:nvSpPr>
          <p:cNvPr id="14" name="tracker stop 6"/>
          <p:cNvSpPr/>
          <p:nvPr/>
        </p:nvSpPr>
        <p:spPr>
          <a:xfrm>
            <a:off x="947775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9195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500" dirty="0"/>
          </a:p>
        </p:txBody>
      </p:sp>
      <p:sp>
        <p:nvSpPr>
          <p:cNvPr id="16" name="tracker stop 7"/>
          <p:cNvSpPr/>
          <p:nvPr/>
        </p:nvSpPr>
        <p:spPr>
          <a:xfrm>
            <a:off x="1122426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3846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548640"/>
            <a:ext cx="1057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story 1: [Student name]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7432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AI UPDATES</a:t>
            </a:r>
            <a:endParaRPr lang="en-US" sz="1200" dirty="0"/>
          </a:p>
        </p:txBody>
      </p:sp>
      <p:sp>
        <p:nvSpPr>
          <p:cNvPr id="4" name="screenshot placeholder"/>
          <p:cNvSpPr/>
          <p:nvPr/>
        </p:nvSpPr>
        <p:spPr>
          <a:xfrm>
            <a:off x="2441448" y="1783080"/>
            <a:ext cx="7315200" cy="374904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dash"/>
          </a:ln>
        </p:spPr>
      </p:sp>
      <p:pic>
        <p:nvPicPr>
          <p:cNvPr id="5" name="screenshot placehold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265176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441448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of the news item]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13816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[Citation for the news item]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548640"/>
            <a:ext cx="1057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story 2: [Student name]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7432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AI UPDATES</a:t>
            </a:r>
            <a:endParaRPr lang="en-US" sz="1200" dirty="0"/>
          </a:p>
        </p:txBody>
      </p:sp>
      <p:sp>
        <p:nvSpPr>
          <p:cNvPr id="4" name="screenshot placeholder"/>
          <p:cNvSpPr/>
          <p:nvPr/>
        </p:nvSpPr>
        <p:spPr>
          <a:xfrm>
            <a:off x="2441448" y="1783080"/>
            <a:ext cx="7315200" cy="374904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dash"/>
          </a:ln>
        </p:spPr>
      </p:sp>
      <p:pic>
        <p:nvPicPr>
          <p:cNvPr id="5" name="screenshot placehold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265176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441448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of the news item]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13816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[Citation for the news item]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548640"/>
            <a:ext cx="1057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story 3: [Student name]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7432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AI UPDATES</a:t>
            </a:r>
            <a:endParaRPr lang="en-US" sz="1200" dirty="0"/>
          </a:p>
        </p:txBody>
      </p:sp>
      <p:sp>
        <p:nvSpPr>
          <p:cNvPr id="4" name="screenshot placeholder"/>
          <p:cNvSpPr/>
          <p:nvPr/>
        </p:nvSpPr>
        <p:spPr>
          <a:xfrm>
            <a:off x="2441448" y="1783080"/>
            <a:ext cx="7315200" cy="374904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dash"/>
          </a:ln>
        </p:spPr>
      </p:sp>
      <p:pic>
        <p:nvPicPr>
          <p:cNvPr id="5" name="screenshot placehold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265176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441448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of the news item]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13816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[Citation for the news item]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548640"/>
            <a:ext cx="1057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story 4: [Student name]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7432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AI UPDATES</a:t>
            </a:r>
            <a:endParaRPr lang="en-US" sz="1200" dirty="0"/>
          </a:p>
        </p:txBody>
      </p:sp>
      <p:sp>
        <p:nvSpPr>
          <p:cNvPr id="4" name="screenshot placeholder"/>
          <p:cNvSpPr/>
          <p:nvPr/>
        </p:nvSpPr>
        <p:spPr>
          <a:xfrm>
            <a:off x="2441448" y="1783080"/>
            <a:ext cx="7315200" cy="374904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dash"/>
          </a:ln>
        </p:spPr>
      </p:sp>
      <p:pic>
        <p:nvPicPr>
          <p:cNvPr id="5" name="screenshot placehold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265176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441448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of the news item]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13816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[Citation for the news item]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585216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Lecture: Confidentiality and Prompt Scrubbing</a:t>
            </a:r>
            <a:endParaRPr lang="en-US" sz="4400" dirty="0"/>
          </a:p>
        </p:txBody>
      </p:sp>
      <p:sp>
        <p:nvSpPr>
          <p:cNvPr id="3" name="tracker line"/>
          <p:cNvSpPr/>
          <p:nvPr/>
        </p:nvSpPr>
        <p:spPr>
          <a:xfrm>
            <a:off x="859536" y="5120640"/>
            <a:ext cx="10479024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racker stop 1"/>
          <p:cNvSpPr/>
          <p:nvPr/>
        </p:nvSpPr>
        <p:spPr>
          <a:xfrm>
            <a:off x="74523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and Recap</a:t>
            </a:r>
            <a:endParaRPr lang="en-US" sz="1500" dirty="0"/>
          </a:p>
        </p:txBody>
      </p:sp>
      <p:sp>
        <p:nvSpPr>
          <p:cNvPr id="6" name="tracker stop 2"/>
          <p:cNvSpPr/>
          <p:nvPr/>
        </p:nvSpPr>
        <p:spPr>
          <a:xfrm>
            <a:off x="2404872" y="4942332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594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500" dirty="0"/>
          </a:p>
        </p:txBody>
      </p:sp>
      <p:sp>
        <p:nvSpPr>
          <p:cNvPr id="8" name="tracker stop 3"/>
          <p:cNvSpPr/>
          <p:nvPr/>
        </p:nvSpPr>
        <p:spPr>
          <a:xfrm>
            <a:off x="4238244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2444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1</a:t>
            </a:r>
            <a:endParaRPr lang="en-US" sz="1500" dirty="0"/>
          </a:p>
        </p:txBody>
      </p:sp>
      <p:sp>
        <p:nvSpPr>
          <p:cNvPr id="10" name="tracker stop 4"/>
          <p:cNvSpPr/>
          <p:nvPr/>
        </p:nvSpPr>
        <p:spPr>
          <a:xfrm>
            <a:off x="5984748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98948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500" dirty="0"/>
          </a:p>
        </p:txBody>
      </p:sp>
      <p:sp>
        <p:nvSpPr>
          <p:cNvPr id="12" name="tracker stop 5"/>
          <p:cNvSpPr/>
          <p:nvPr/>
        </p:nvSpPr>
        <p:spPr>
          <a:xfrm>
            <a:off x="7731252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5452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2</a:t>
            </a:r>
            <a:endParaRPr lang="en-US" sz="1500" dirty="0"/>
          </a:p>
        </p:txBody>
      </p:sp>
      <p:sp>
        <p:nvSpPr>
          <p:cNvPr id="14" name="tracker stop 6"/>
          <p:cNvSpPr/>
          <p:nvPr/>
        </p:nvSpPr>
        <p:spPr>
          <a:xfrm>
            <a:off x="947775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9195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500" dirty="0"/>
          </a:p>
        </p:txBody>
      </p:sp>
      <p:sp>
        <p:nvSpPr>
          <p:cNvPr id="16" name="tracker stop 7"/>
          <p:cNvSpPr/>
          <p:nvPr/>
        </p:nvSpPr>
        <p:spPr>
          <a:xfrm>
            <a:off x="1122426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3846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548640"/>
            <a:ext cx="1057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with Your Supervisor/Organization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7432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512 AND SUPERVISION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1920240"/>
            <a:ext cx="105704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0"/>
              </a:spcAft>
              <a:buSzPct val="100000"/>
              <a:buChar char="■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go it alone: ask questions</a:t>
            </a:r>
            <a:endParaRPr lang="en-US" sz="2400" dirty="0"/>
          </a:p>
          <a:p>
            <a:pPr marL="342900" indent="-342900">
              <a:spcAft>
                <a:spcPts val="3000"/>
              </a:spcAft>
              <a:buSzPct val="100000"/>
              <a:buChar char="■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and supervisors have a duty to provide guidance</a:t>
            </a:r>
            <a:endParaRPr lang="en-US" sz="2400" dirty="0"/>
          </a:p>
          <a:p>
            <a:pPr marL="342900" indent="-342900">
              <a:spcAft>
                <a:spcPts val="3000"/>
              </a:spcAft>
              <a:buSzPct val="100000"/>
              <a:buChar char="■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your process so you can explain it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548640"/>
            <a:ext cx="1057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Opinion, Six Duties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7432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FORMAL OPINION 512, 29 JULY 2024</a:t>
            </a:r>
            <a:endParaRPr lang="en-US" sz="1200" dirty="0"/>
          </a:p>
        </p:txBody>
      </p:sp>
      <p:sp>
        <p:nvSpPr>
          <p:cNvPr id="4" name="Competence card"/>
          <p:cNvSpPr/>
          <p:nvPr/>
        </p:nvSpPr>
        <p:spPr>
          <a:xfrm>
            <a:off x="813816" y="1783080"/>
            <a:ext cx="3340608" cy="160020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5" name="Competenc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40280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11096" y="1783080"/>
            <a:ext cx="21518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1.1</a:t>
            </a:r>
            <a:endParaRPr lang="en-US" sz="1800" dirty="0"/>
          </a:p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Competence</a:t>
            </a:r>
            <a:endParaRPr lang="en-US" sz="1800" dirty="0"/>
          </a:p>
        </p:txBody>
      </p:sp>
      <p:sp>
        <p:nvSpPr>
          <p:cNvPr id="7" name="Confidentiality card"/>
          <p:cNvSpPr/>
          <p:nvPr/>
        </p:nvSpPr>
        <p:spPr>
          <a:xfrm>
            <a:off x="4428744" y="1783080"/>
            <a:ext cx="3340608" cy="160020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8" name="Confidentialit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344" y="2240280"/>
            <a:ext cx="685800" cy="6858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526024" y="1783080"/>
            <a:ext cx="21518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1.6</a:t>
            </a:r>
            <a:endParaRPr lang="en-US" sz="1800" dirty="0"/>
          </a:p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</a:t>
            </a:r>
            <a:endParaRPr lang="en-US" sz="1800" dirty="0"/>
          </a:p>
        </p:txBody>
      </p:sp>
      <p:sp>
        <p:nvSpPr>
          <p:cNvPr id="10" name="Communication card"/>
          <p:cNvSpPr/>
          <p:nvPr/>
        </p:nvSpPr>
        <p:spPr>
          <a:xfrm>
            <a:off x="8043672" y="1783080"/>
            <a:ext cx="3340608" cy="160020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11" name="Communicati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272" y="2240280"/>
            <a:ext cx="685800" cy="6858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140952" y="1783080"/>
            <a:ext cx="21518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1.4</a:t>
            </a:r>
            <a:endParaRPr lang="en-US" sz="1800" dirty="0"/>
          </a:p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800" dirty="0"/>
          </a:p>
        </p:txBody>
      </p:sp>
      <p:sp>
        <p:nvSpPr>
          <p:cNvPr id="13" name="Fees card"/>
          <p:cNvSpPr/>
          <p:nvPr/>
        </p:nvSpPr>
        <p:spPr>
          <a:xfrm>
            <a:off x="813816" y="3657600"/>
            <a:ext cx="3340608" cy="160020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14" name="Fee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4114800"/>
            <a:ext cx="685800" cy="685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911096" y="3657600"/>
            <a:ext cx="21518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1.5</a:t>
            </a:r>
            <a:endParaRPr lang="en-US" sz="1800" dirty="0"/>
          </a:p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</a:t>
            </a:r>
            <a:endParaRPr lang="en-US" sz="1800" dirty="0"/>
          </a:p>
        </p:txBody>
      </p:sp>
      <p:sp>
        <p:nvSpPr>
          <p:cNvPr id="16" name="Candor card"/>
          <p:cNvSpPr/>
          <p:nvPr/>
        </p:nvSpPr>
        <p:spPr>
          <a:xfrm>
            <a:off x="4428744" y="3657600"/>
            <a:ext cx="3340608" cy="160020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17" name="Candor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344" y="4114800"/>
            <a:ext cx="685800" cy="6858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526024" y="3657600"/>
            <a:ext cx="21518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3.1, 3.3, 8.4(C)</a:t>
            </a:r>
            <a:endParaRPr lang="en-US" sz="1800" dirty="0"/>
          </a:p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Candor</a:t>
            </a:r>
            <a:endParaRPr lang="en-US" sz="1800" dirty="0"/>
          </a:p>
        </p:txBody>
      </p:sp>
      <p:sp>
        <p:nvSpPr>
          <p:cNvPr id="19" name="Supervision card"/>
          <p:cNvSpPr/>
          <p:nvPr/>
        </p:nvSpPr>
        <p:spPr>
          <a:xfrm>
            <a:off x="8043672" y="3657600"/>
            <a:ext cx="3340608" cy="160020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20" name="Supervision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2272" y="4114800"/>
            <a:ext cx="685800" cy="6858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140952" y="3657600"/>
            <a:ext cx="21518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5.1, 5.3</a:t>
            </a:r>
            <a:endParaRPr lang="en-US" sz="1800" dirty="0"/>
          </a:p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</a:t>
            </a:r>
            <a:endParaRPr lang="en-US" sz="1800" dirty="0"/>
          </a:p>
        </p:txBody>
      </p:sp>
      <p:sp>
        <p:nvSpPr>
          <p:cNvPr id="22" name="Text 14"/>
          <p:cNvSpPr txBox="1"/>
          <p:nvPr/>
        </p:nvSpPr>
        <p:spPr>
          <a:xfrm>
            <a:off x="813816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Emily Pavuluri, </a:t>
            </a:r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AI-Augmented Legal Research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(Version 0.1, May 2026), an open teaching project, http://ailegalresearch.org/, licensed under CC BY-NC 4.0.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548640"/>
            <a:ext cx="1057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Opinion, Six Duties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7432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FORMAL OPINION 512, 29 JULY 2024</a:t>
            </a:r>
            <a:endParaRPr lang="en-US" sz="1200" dirty="0"/>
          </a:p>
        </p:txBody>
      </p:sp>
      <p:sp>
        <p:nvSpPr>
          <p:cNvPr id="4" name="Competence card"/>
          <p:cNvSpPr/>
          <p:nvPr/>
        </p:nvSpPr>
        <p:spPr>
          <a:xfrm>
            <a:off x="813816" y="1783080"/>
            <a:ext cx="3340608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pic>
        <p:nvPicPr>
          <p:cNvPr id="5" name="Competenc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40280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11096" y="1783080"/>
            <a:ext cx="21518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1.1</a:t>
            </a:r>
            <a:endParaRPr lang="en-US" sz="1800" dirty="0"/>
          </a:p>
          <a:p>
            <a:pPr indent="0" marL="0">
              <a:buNone/>
            </a:pPr>
            <a:r>
              <a:rPr lang="en-US" sz="1900" b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Competence</a:t>
            </a:r>
            <a:endParaRPr lang="en-US" sz="1800" dirty="0"/>
          </a:p>
        </p:txBody>
      </p:sp>
      <p:sp>
        <p:nvSpPr>
          <p:cNvPr id="7" name="Confidentiality card"/>
          <p:cNvSpPr/>
          <p:nvPr/>
        </p:nvSpPr>
        <p:spPr>
          <a:xfrm>
            <a:off x="4428744" y="1783080"/>
            <a:ext cx="3340608" cy="1600200"/>
          </a:xfrm>
          <a:prstGeom prst="rect">
            <a:avLst/>
          </a:prstGeom>
          <a:solidFill>
            <a:srgbClr val="000000"/>
          </a:solidFill>
          <a:ln w="31750">
            <a:solidFill>
              <a:srgbClr val="000000"/>
            </a:solidFill>
            <a:prstDash val="solid"/>
          </a:ln>
        </p:spPr>
      </p:sp>
      <p:pic>
        <p:nvPicPr>
          <p:cNvPr id="8" name="Confidentialit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344" y="2240280"/>
            <a:ext cx="685800" cy="6858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526024" y="1783080"/>
            <a:ext cx="21518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1.6</a:t>
            </a:r>
            <a:endParaRPr lang="en-US" sz="18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</a:t>
            </a:r>
            <a:endParaRPr lang="en-US" sz="1800" dirty="0"/>
          </a:p>
        </p:txBody>
      </p:sp>
      <p:sp>
        <p:nvSpPr>
          <p:cNvPr id="10" name="Communication card"/>
          <p:cNvSpPr/>
          <p:nvPr/>
        </p:nvSpPr>
        <p:spPr>
          <a:xfrm>
            <a:off x="8043672" y="1783080"/>
            <a:ext cx="3340608" cy="1600200"/>
          </a:xfrm>
          <a:prstGeom prst="rect">
            <a:avLst/>
          </a:prstGeom>
          <a:solidFill>
            <a:srgbClr val="000000"/>
          </a:solidFill>
          <a:ln w="31750">
            <a:solidFill>
              <a:srgbClr val="000000"/>
            </a:solidFill>
            <a:prstDash val="solid"/>
          </a:ln>
        </p:spPr>
      </p:sp>
      <p:pic>
        <p:nvPicPr>
          <p:cNvPr id="11" name="Communicati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272" y="2240280"/>
            <a:ext cx="685800" cy="6858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140952" y="1783080"/>
            <a:ext cx="21518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1.4</a:t>
            </a:r>
            <a:endParaRPr lang="en-US" sz="18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800" dirty="0"/>
          </a:p>
        </p:txBody>
      </p:sp>
      <p:sp>
        <p:nvSpPr>
          <p:cNvPr id="13" name="Fees card"/>
          <p:cNvSpPr/>
          <p:nvPr/>
        </p:nvSpPr>
        <p:spPr>
          <a:xfrm>
            <a:off x="813816" y="3657600"/>
            <a:ext cx="3340608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pic>
        <p:nvPicPr>
          <p:cNvPr id="14" name="Fee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4114800"/>
            <a:ext cx="685800" cy="685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911096" y="3657600"/>
            <a:ext cx="21518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1.5</a:t>
            </a:r>
            <a:endParaRPr lang="en-US" sz="1800" dirty="0"/>
          </a:p>
          <a:p>
            <a:pPr indent="0" marL="0">
              <a:buNone/>
            </a:pPr>
            <a:r>
              <a:rPr lang="en-US" sz="1900" b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</a:t>
            </a:r>
            <a:endParaRPr lang="en-US" sz="1800" dirty="0"/>
          </a:p>
        </p:txBody>
      </p:sp>
      <p:sp>
        <p:nvSpPr>
          <p:cNvPr id="16" name="Candor card"/>
          <p:cNvSpPr/>
          <p:nvPr/>
        </p:nvSpPr>
        <p:spPr>
          <a:xfrm>
            <a:off x="4428744" y="3657600"/>
            <a:ext cx="3340608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pic>
        <p:nvPicPr>
          <p:cNvPr id="17" name="Candor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344" y="4114800"/>
            <a:ext cx="685800" cy="6858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526024" y="3657600"/>
            <a:ext cx="21518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3.1, 3.3, 8.4(C)</a:t>
            </a:r>
            <a:endParaRPr lang="en-US" sz="1800" dirty="0"/>
          </a:p>
          <a:p>
            <a:pPr indent="0" marL="0">
              <a:buNone/>
            </a:pPr>
            <a:r>
              <a:rPr lang="en-US" sz="1900" b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Candor</a:t>
            </a:r>
            <a:endParaRPr lang="en-US" sz="1800" dirty="0"/>
          </a:p>
        </p:txBody>
      </p:sp>
      <p:sp>
        <p:nvSpPr>
          <p:cNvPr id="19" name="Supervision card"/>
          <p:cNvSpPr/>
          <p:nvPr/>
        </p:nvSpPr>
        <p:spPr>
          <a:xfrm>
            <a:off x="8043672" y="3657600"/>
            <a:ext cx="3340608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pic>
        <p:nvPicPr>
          <p:cNvPr id="20" name="Supervision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2272" y="4114800"/>
            <a:ext cx="685800" cy="6858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140952" y="3657600"/>
            <a:ext cx="21518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5.1, 5.3</a:t>
            </a:r>
            <a:endParaRPr lang="en-US" sz="1800" dirty="0"/>
          </a:p>
          <a:p>
            <a:pPr indent="0" marL="0">
              <a:buNone/>
            </a:pPr>
            <a:r>
              <a:rPr lang="en-US" sz="1900" b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</a:t>
            </a:r>
            <a:endParaRPr lang="en-US" sz="1800" dirty="0"/>
          </a:p>
        </p:txBody>
      </p:sp>
      <p:sp>
        <p:nvSpPr>
          <p:cNvPr id="22" name="Text 14"/>
          <p:cNvSpPr txBox="1"/>
          <p:nvPr/>
        </p:nvSpPr>
        <p:spPr>
          <a:xfrm>
            <a:off x="813816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Emily Pavuluri, </a:t>
            </a:r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AI-Augmented Legal Research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(Version 0.1, May 2026), an open teaching project, http://ailegalresearch.org/, licensed under CC BY-NC 4.0.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548640"/>
            <a:ext cx="1057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Confidentiality: Decide Before You Type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7432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1.6 AND OPINION 512</a:t>
            </a:r>
            <a:endParaRPr lang="en-US" sz="1200" dirty="0"/>
          </a:p>
        </p:txBody>
      </p:sp>
      <p:pic>
        <p:nvPicPr>
          <p:cNvPr id="4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9192" y="2560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3816" y="4206240"/>
            <a:ext cx="5102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risk analysis before using AI</a:t>
            </a:r>
            <a:endParaRPr lang="en-US" sz="2400" dirty="0"/>
          </a:p>
        </p:txBody>
      </p:sp>
      <p:pic>
        <p:nvPicPr>
          <p:cNvPr id="6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2560320"/>
            <a:ext cx="1371600" cy="1371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81928" y="4206240"/>
            <a:ext cx="5102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is reasonable efforts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548640"/>
            <a:ext cx="1057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Reasonable Efforts Means a Balance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7432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1.6(C), COMMENT 18</a:t>
            </a:r>
            <a:endParaRPr lang="en-US" sz="1200" dirty="0"/>
          </a:p>
        </p:txBody>
      </p:sp>
      <p:pic>
        <p:nvPicPr>
          <p:cNvPr id="4" name="balanc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1768" y="2148840"/>
            <a:ext cx="2194560" cy="2194560"/>
          </a:xfrm>
          <a:prstGeom prst="rect">
            <a:avLst/>
          </a:prstGeom>
        </p:spPr>
      </p:pic>
      <p:pic>
        <p:nvPicPr>
          <p:cNvPr id="5" name="data sensitivit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514600"/>
            <a:ext cx="1097280" cy="10972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9728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Sensitivity</a:t>
            </a:r>
            <a:endParaRPr lang="en-US" sz="2400" dirty="0"/>
          </a:p>
        </p:txBody>
      </p:sp>
      <p:pic>
        <p:nvPicPr>
          <p:cNvPr id="7" name="tool securit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696" y="2514600"/>
            <a:ext cx="1097280" cy="10972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991856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Security</a:t>
            </a:r>
            <a:endParaRPr lang="en-US" sz="2400" dirty="0"/>
          </a:p>
        </p:txBody>
      </p:sp>
      <p:sp>
        <p:nvSpPr>
          <p:cNvPr id="9" name="Text 4"/>
          <p:cNvSpPr txBox="1"/>
          <p:nvPr/>
        </p:nvSpPr>
        <p:spPr>
          <a:xfrm>
            <a:off x="813816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Emily Pavuluri, </a:t>
            </a:r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AI-Augmented Legal Research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(Version 0.1, May 2026), an open teaching project, http://ailegalresearch.org/, licensed under CC BY-NC 4.0.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548640"/>
            <a:ext cx="1057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Use Enterprise and Legal Platforms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7432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1.6 IN PRACTICE</a:t>
            </a:r>
            <a:endParaRPr lang="en-US" sz="1200" dirty="0"/>
          </a:p>
        </p:txBody>
      </p:sp>
      <p:pic>
        <p:nvPicPr>
          <p:cNvPr id="4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9192" y="2560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3816" y="4206240"/>
            <a:ext cx="5102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Exposure</a:t>
            </a:r>
            <a:endParaRPr lang="en-US" sz="2400" dirty="0"/>
          </a:p>
        </p:txBody>
      </p:sp>
      <p:pic>
        <p:nvPicPr>
          <p:cNvPr id="6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2560320"/>
            <a:ext cx="1371600" cy="1371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81928" y="4206240"/>
            <a:ext cx="5102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Disclosure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548640"/>
            <a:ext cx="1057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Confidential?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7432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UNINTENTIONAL DISCLOSURE</a:t>
            </a:r>
            <a:endParaRPr lang="en-US" sz="1200" dirty="0"/>
          </a:p>
        </p:txBody>
      </p:sp>
      <p:pic>
        <p:nvPicPr>
          <p:cNvPr id="4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840" y="2560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3816" y="4206240"/>
            <a:ext cx="3279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names</a:t>
            </a:r>
            <a:endParaRPr lang="en-US" sz="2400" dirty="0"/>
          </a:p>
        </p:txBody>
      </p:sp>
      <p:pic>
        <p:nvPicPr>
          <p:cNvPr id="6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560320"/>
            <a:ext cx="1371600" cy="1371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459224" y="4206240"/>
            <a:ext cx="3279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information</a:t>
            </a:r>
            <a:endParaRPr lang="en-US" sz="2400" dirty="0"/>
          </a:p>
        </p:txBody>
      </p:sp>
      <p:pic>
        <p:nvPicPr>
          <p:cNvPr id="8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656" y="2560320"/>
            <a:ext cx="1371600" cy="1371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04632" y="4206240"/>
            <a:ext cx="3279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strategy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548640"/>
            <a:ext cx="1057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and Delete Facts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7432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1600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fact</a:t>
            </a:r>
            <a:endParaRPr lang="en-US" sz="2000" dirty="0"/>
          </a:p>
        </p:txBody>
      </p:sp>
      <p:sp>
        <p:nvSpPr>
          <p:cNvPr id="5" name="column rule"/>
          <p:cNvSpPr/>
          <p:nvPr/>
        </p:nvSpPr>
        <p:spPr>
          <a:xfrm>
            <a:off x="813816" y="2103120"/>
            <a:ext cx="384048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852160" y="160020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</a:t>
            </a:r>
            <a:endParaRPr lang="en-US" sz="2000" dirty="0"/>
          </a:p>
        </p:txBody>
      </p:sp>
      <p:sp>
        <p:nvSpPr>
          <p:cNvPr id="7" name="column rule"/>
          <p:cNvSpPr/>
          <p:nvPr/>
        </p:nvSpPr>
        <p:spPr>
          <a:xfrm>
            <a:off x="5852160" y="2103120"/>
            <a:ext cx="553212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13816" y="22860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company</a:t>
            </a:r>
            <a:endParaRPr lang="en-US" sz="2000" dirty="0"/>
          </a:p>
        </p:txBody>
      </p:sp>
      <p:pic>
        <p:nvPicPr>
          <p:cNvPr id="9" name="abstraction arrow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46888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852160" y="2286000"/>
            <a:ext cx="5532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manufacturing company”</a:t>
            </a:r>
            <a:endParaRPr lang="en-US" sz="2000" dirty="0"/>
          </a:p>
        </p:txBody>
      </p:sp>
      <p:sp>
        <p:nvSpPr>
          <p:cNvPr id="11" name="row divider"/>
          <p:cNvSpPr/>
          <p:nvPr/>
        </p:nvSpPr>
        <p:spPr>
          <a:xfrm>
            <a:off x="813816" y="3218688"/>
            <a:ext cx="10570464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13816" y="32918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particular property</a:t>
            </a:r>
            <a:endParaRPr lang="en-US" sz="2000" dirty="0"/>
          </a:p>
        </p:txBody>
      </p:sp>
      <p:pic>
        <p:nvPicPr>
          <p:cNvPr id="13" name="abstraction arrow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47472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852160" y="3291840"/>
            <a:ext cx="5532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commercial property”</a:t>
            </a:r>
            <a:endParaRPr lang="en-US" sz="2000" dirty="0"/>
          </a:p>
        </p:txBody>
      </p:sp>
      <p:sp>
        <p:nvSpPr>
          <p:cNvPr id="15" name="row divider"/>
          <p:cNvSpPr/>
          <p:nvPr/>
        </p:nvSpPr>
        <p:spPr>
          <a:xfrm>
            <a:off x="813816" y="4224528"/>
            <a:ext cx="10570464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13816" y="42976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figures</a:t>
            </a:r>
            <a:endParaRPr lang="en-US" sz="2000" dirty="0"/>
          </a:p>
        </p:txBody>
      </p:sp>
      <p:pic>
        <p:nvPicPr>
          <p:cNvPr id="17" name="abstraction arrow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48056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52160" y="4297680"/>
            <a:ext cx="5532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figures (“$1 to 10 million”), where the legal analysis stays the same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13816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Emily Pavuluri, </a:t>
            </a:r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AI-Augmented Legal Research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(Version 0.1, May 2026), an open teaching project, http://ailegalresearch.org/, licensed under CC BY-NC 4.0.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548640"/>
            <a:ext cx="1057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Big-Picture Tips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7432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THE DUTIES TO WORK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1920240"/>
            <a:ext cx="105704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0"/>
              </a:spcAft>
              <a:buSzPct val="100000"/>
              <a:buChar char="■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information on a “need to know” basis</a:t>
            </a:r>
            <a:endParaRPr lang="en-US" sz="2400" dirty="0"/>
          </a:p>
          <a:p>
            <a:pPr marL="342900" indent="-342900">
              <a:spcAft>
                <a:spcPts val="3000"/>
              </a:spcAft>
              <a:buSzPct val="100000"/>
              <a:buChar char="■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what tools are authorized for what purpose</a:t>
            </a:r>
            <a:endParaRPr lang="en-US" sz="2400" dirty="0"/>
          </a:p>
          <a:p>
            <a:pPr marL="342900" indent="-342900">
              <a:spcAft>
                <a:spcPts val="3000"/>
              </a:spcAft>
              <a:buSzPct val="100000"/>
              <a:buChar char="■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be able to defend your actions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585216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Exercise</a:t>
            </a:r>
            <a:endParaRPr lang="en-US" sz="4400" dirty="0"/>
          </a:p>
        </p:txBody>
      </p:sp>
      <p:sp>
        <p:nvSpPr>
          <p:cNvPr id="3" name="tracker line"/>
          <p:cNvSpPr/>
          <p:nvPr/>
        </p:nvSpPr>
        <p:spPr>
          <a:xfrm>
            <a:off x="859536" y="5120640"/>
            <a:ext cx="10479024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racker stop 1"/>
          <p:cNvSpPr/>
          <p:nvPr/>
        </p:nvSpPr>
        <p:spPr>
          <a:xfrm>
            <a:off x="74523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and Recap</a:t>
            </a:r>
            <a:endParaRPr lang="en-US" sz="1500" dirty="0"/>
          </a:p>
        </p:txBody>
      </p:sp>
      <p:sp>
        <p:nvSpPr>
          <p:cNvPr id="6" name="tracker stop 2"/>
          <p:cNvSpPr/>
          <p:nvPr/>
        </p:nvSpPr>
        <p:spPr>
          <a:xfrm>
            <a:off x="249174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594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500" dirty="0"/>
          </a:p>
        </p:txBody>
      </p:sp>
      <p:sp>
        <p:nvSpPr>
          <p:cNvPr id="8" name="tracker stop 3"/>
          <p:cNvSpPr/>
          <p:nvPr/>
        </p:nvSpPr>
        <p:spPr>
          <a:xfrm>
            <a:off x="4151376" y="4942332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2444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1</a:t>
            </a:r>
            <a:endParaRPr lang="en-US" sz="1500" dirty="0"/>
          </a:p>
        </p:txBody>
      </p:sp>
      <p:sp>
        <p:nvSpPr>
          <p:cNvPr id="10" name="tracker stop 4"/>
          <p:cNvSpPr/>
          <p:nvPr/>
        </p:nvSpPr>
        <p:spPr>
          <a:xfrm>
            <a:off x="5984748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98948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500" dirty="0"/>
          </a:p>
        </p:txBody>
      </p:sp>
      <p:sp>
        <p:nvSpPr>
          <p:cNvPr id="12" name="tracker stop 5"/>
          <p:cNvSpPr/>
          <p:nvPr/>
        </p:nvSpPr>
        <p:spPr>
          <a:xfrm>
            <a:off x="7731252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5452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2</a:t>
            </a:r>
            <a:endParaRPr lang="en-US" sz="1500" dirty="0"/>
          </a:p>
        </p:txBody>
      </p:sp>
      <p:sp>
        <p:nvSpPr>
          <p:cNvPr id="14" name="tracker stop 6"/>
          <p:cNvSpPr/>
          <p:nvPr/>
        </p:nvSpPr>
        <p:spPr>
          <a:xfrm>
            <a:off x="947775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9195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500" dirty="0"/>
          </a:p>
        </p:txBody>
      </p:sp>
      <p:sp>
        <p:nvSpPr>
          <p:cNvPr id="16" name="tracker stop 7"/>
          <p:cNvSpPr/>
          <p:nvPr/>
        </p:nvSpPr>
        <p:spPr>
          <a:xfrm>
            <a:off x="1122426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3846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585216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4400" dirty="0"/>
          </a:p>
        </p:txBody>
      </p:sp>
      <p:sp>
        <p:nvSpPr>
          <p:cNvPr id="3" name="tracker line"/>
          <p:cNvSpPr/>
          <p:nvPr/>
        </p:nvSpPr>
        <p:spPr>
          <a:xfrm>
            <a:off x="859536" y="5120640"/>
            <a:ext cx="10479024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racker stop 1"/>
          <p:cNvSpPr/>
          <p:nvPr/>
        </p:nvSpPr>
        <p:spPr>
          <a:xfrm>
            <a:off x="74523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and Recap</a:t>
            </a:r>
            <a:endParaRPr lang="en-US" sz="1500" dirty="0"/>
          </a:p>
        </p:txBody>
      </p:sp>
      <p:sp>
        <p:nvSpPr>
          <p:cNvPr id="6" name="tracker stop 2"/>
          <p:cNvSpPr/>
          <p:nvPr/>
        </p:nvSpPr>
        <p:spPr>
          <a:xfrm>
            <a:off x="249174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594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500" dirty="0"/>
          </a:p>
        </p:txBody>
      </p:sp>
      <p:sp>
        <p:nvSpPr>
          <p:cNvPr id="8" name="tracker stop 3"/>
          <p:cNvSpPr/>
          <p:nvPr/>
        </p:nvSpPr>
        <p:spPr>
          <a:xfrm>
            <a:off x="4238244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2444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1</a:t>
            </a:r>
            <a:endParaRPr lang="en-US" sz="1500" dirty="0"/>
          </a:p>
        </p:txBody>
      </p:sp>
      <p:sp>
        <p:nvSpPr>
          <p:cNvPr id="10" name="tracker stop 4"/>
          <p:cNvSpPr/>
          <p:nvPr/>
        </p:nvSpPr>
        <p:spPr>
          <a:xfrm>
            <a:off x="5897880" y="4942332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98948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500" dirty="0"/>
          </a:p>
        </p:txBody>
      </p:sp>
      <p:sp>
        <p:nvSpPr>
          <p:cNvPr id="12" name="tracker stop 5"/>
          <p:cNvSpPr/>
          <p:nvPr/>
        </p:nvSpPr>
        <p:spPr>
          <a:xfrm>
            <a:off x="7731252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5452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2</a:t>
            </a:r>
            <a:endParaRPr lang="en-US" sz="1500" dirty="0"/>
          </a:p>
        </p:txBody>
      </p:sp>
      <p:sp>
        <p:nvSpPr>
          <p:cNvPr id="14" name="tracker stop 6"/>
          <p:cNvSpPr/>
          <p:nvPr/>
        </p:nvSpPr>
        <p:spPr>
          <a:xfrm>
            <a:off x="947775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9195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500" dirty="0"/>
          </a:p>
        </p:txBody>
      </p:sp>
      <p:sp>
        <p:nvSpPr>
          <p:cNvPr id="16" name="tracker stop 7"/>
          <p:cNvSpPr/>
          <p:nvPr/>
        </p:nvSpPr>
        <p:spPr>
          <a:xfrm>
            <a:off x="1122426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3846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585216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Exercise 2</a:t>
            </a:r>
            <a:endParaRPr lang="en-US" sz="4400" dirty="0"/>
          </a:p>
        </p:txBody>
      </p:sp>
      <p:sp>
        <p:nvSpPr>
          <p:cNvPr id="3" name="tracker line"/>
          <p:cNvSpPr/>
          <p:nvPr/>
        </p:nvSpPr>
        <p:spPr>
          <a:xfrm>
            <a:off x="859536" y="5120640"/>
            <a:ext cx="10479024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racker stop 1"/>
          <p:cNvSpPr/>
          <p:nvPr/>
        </p:nvSpPr>
        <p:spPr>
          <a:xfrm>
            <a:off x="74523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and Recap</a:t>
            </a:r>
            <a:endParaRPr lang="en-US" sz="1500" dirty="0"/>
          </a:p>
        </p:txBody>
      </p:sp>
      <p:sp>
        <p:nvSpPr>
          <p:cNvPr id="6" name="tracker stop 2"/>
          <p:cNvSpPr/>
          <p:nvPr/>
        </p:nvSpPr>
        <p:spPr>
          <a:xfrm>
            <a:off x="249174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594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500" dirty="0"/>
          </a:p>
        </p:txBody>
      </p:sp>
      <p:sp>
        <p:nvSpPr>
          <p:cNvPr id="8" name="tracker stop 3"/>
          <p:cNvSpPr/>
          <p:nvPr/>
        </p:nvSpPr>
        <p:spPr>
          <a:xfrm>
            <a:off x="4238244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2444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1</a:t>
            </a:r>
            <a:endParaRPr lang="en-US" sz="1500" dirty="0"/>
          </a:p>
        </p:txBody>
      </p:sp>
      <p:sp>
        <p:nvSpPr>
          <p:cNvPr id="10" name="tracker stop 4"/>
          <p:cNvSpPr/>
          <p:nvPr/>
        </p:nvSpPr>
        <p:spPr>
          <a:xfrm>
            <a:off x="5984748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98948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500" dirty="0"/>
          </a:p>
        </p:txBody>
      </p:sp>
      <p:sp>
        <p:nvSpPr>
          <p:cNvPr id="12" name="tracker stop 5"/>
          <p:cNvSpPr/>
          <p:nvPr/>
        </p:nvSpPr>
        <p:spPr>
          <a:xfrm>
            <a:off x="7644384" y="4942332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5452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2</a:t>
            </a:r>
            <a:endParaRPr lang="en-US" sz="1500" dirty="0"/>
          </a:p>
        </p:txBody>
      </p:sp>
      <p:sp>
        <p:nvSpPr>
          <p:cNvPr id="14" name="tracker stop 6"/>
          <p:cNvSpPr/>
          <p:nvPr/>
        </p:nvSpPr>
        <p:spPr>
          <a:xfrm>
            <a:off x="947775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9195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500" dirty="0"/>
          </a:p>
        </p:txBody>
      </p:sp>
      <p:sp>
        <p:nvSpPr>
          <p:cNvPr id="16" name="tracker stop 7"/>
          <p:cNvSpPr/>
          <p:nvPr/>
        </p:nvSpPr>
        <p:spPr>
          <a:xfrm>
            <a:off x="1122426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3846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548640"/>
            <a:ext cx="1057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Prompting Tips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7432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 2</a:t>
            </a:r>
            <a:endParaRPr lang="en-US" sz="1200" dirty="0"/>
          </a:p>
        </p:txBody>
      </p:sp>
      <p:sp>
        <p:nvSpPr>
          <p:cNvPr id="4" name="tip card 1"/>
          <p:cNvSpPr/>
          <p:nvPr/>
        </p:nvSpPr>
        <p:spPr>
          <a:xfrm>
            <a:off x="813816" y="1737360"/>
            <a:ext cx="5148072" cy="18745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2416" y="1920240"/>
            <a:ext cx="46908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Shift+Enter adds a line break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alone sends the prompt. Hold Shift to start a new line and lay out a multi-part prompt before you submit it.</a:t>
            </a:r>
            <a:endParaRPr lang="en-US" sz="1800" dirty="0"/>
          </a:p>
        </p:txBody>
      </p:sp>
      <p:sp>
        <p:nvSpPr>
          <p:cNvPr id="6" name="tip card 2"/>
          <p:cNvSpPr/>
          <p:nvPr/>
        </p:nvSpPr>
        <p:spPr>
          <a:xfrm>
            <a:off x="6236208" y="1737360"/>
            <a:ext cx="5148072" cy="18745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64808" y="1920240"/>
            <a:ext cx="46908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Topic: New Chat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start a new topic, begin with a new chat. It keeps things organized and avoids having the AI read irrelevant information, thereby confusing it and burning tokens.</a:t>
            </a:r>
            <a:endParaRPr lang="en-US" sz="1800" dirty="0"/>
          </a:p>
        </p:txBody>
      </p:sp>
      <p:sp>
        <p:nvSpPr>
          <p:cNvPr id="8" name="tip card 3"/>
          <p:cNvSpPr/>
          <p:nvPr/>
        </p:nvSpPr>
        <p:spPr>
          <a:xfrm>
            <a:off x="813816" y="3886200"/>
            <a:ext cx="5148072" cy="18745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42416" y="4069080"/>
            <a:ext cx="46908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a document to one prompt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paperclip or plus sign to attach a file for this thread only. Keep a custom GPT’s knowledge base for permanent reference material.</a:t>
            </a:r>
            <a:endParaRPr lang="en-US" sz="1800" dirty="0"/>
          </a:p>
        </p:txBody>
      </p:sp>
      <p:sp>
        <p:nvSpPr>
          <p:cNvPr id="10" name="tip card 4"/>
          <p:cNvSpPr/>
          <p:nvPr/>
        </p:nvSpPr>
        <p:spPr>
          <a:xfrm>
            <a:off x="6236208" y="3886200"/>
            <a:ext cx="5148072" cy="18745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4808" y="4069080"/>
            <a:ext cx="46908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 the conversation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auto-generated title with the subject, the task, and the date, so you can find the chat months later.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585216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Group and Class Discussion</a:t>
            </a:r>
            <a:endParaRPr lang="en-US" sz="4400" dirty="0"/>
          </a:p>
        </p:txBody>
      </p:sp>
      <p:sp>
        <p:nvSpPr>
          <p:cNvPr id="3" name="tracker line"/>
          <p:cNvSpPr/>
          <p:nvPr/>
        </p:nvSpPr>
        <p:spPr>
          <a:xfrm>
            <a:off x="859536" y="5120640"/>
            <a:ext cx="10479024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racker stop 1"/>
          <p:cNvSpPr/>
          <p:nvPr/>
        </p:nvSpPr>
        <p:spPr>
          <a:xfrm>
            <a:off x="74523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and Recap</a:t>
            </a:r>
            <a:endParaRPr lang="en-US" sz="1500" dirty="0"/>
          </a:p>
        </p:txBody>
      </p:sp>
      <p:sp>
        <p:nvSpPr>
          <p:cNvPr id="6" name="tracker stop 2"/>
          <p:cNvSpPr/>
          <p:nvPr/>
        </p:nvSpPr>
        <p:spPr>
          <a:xfrm>
            <a:off x="249174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594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500" dirty="0"/>
          </a:p>
        </p:txBody>
      </p:sp>
      <p:sp>
        <p:nvSpPr>
          <p:cNvPr id="8" name="tracker stop 3"/>
          <p:cNvSpPr/>
          <p:nvPr/>
        </p:nvSpPr>
        <p:spPr>
          <a:xfrm>
            <a:off x="4238244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2444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1</a:t>
            </a:r>
            <a:endParaRPr lang="en-US" sz="1500" dirty="0"/>
          </a:p>
        </p:txBody>
      </p:sp>
      <p:sp>
        <p:nvSpPr>
          <p:cNvPr id="10" name="tracker stop 4"/>
          <p:cNvSpPr/>
          <p:nvPr/>
        </p:nvSpPr>
        <p:spPr>
          <a:xfrm>
            <a:off x="5984748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98948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500" dirty="0"/>
          </a:p>
        </p:txBody>
      </p:sp>
      <p:sp>
        <p:nvSpPr>
          <p:cNvPr id="12" name="tracker stop 5"/>
          <p:cNvSpPr/>
          <p:nvPr/>
        </p:nvSpPr>
        <p:spPr>
          <a:xfrm>
            <a:off x="7731252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5452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2</a:t>
            </a:r>
            <a:endParaRPr lang="en-US" sz="1500" dirty="0"/>
          </a:p>
        </p:txBody>
      </p:sp>
      <p:sp>
        <p:nvSpPr>
          <p:cNvPr id="14" name="tracker stop 6"/>
          <p:cNvSpPr/>
          <p:nvPr/>
        </p:nvSpPr>
        <p:spPr>
          <a:xfrm>
            <a:off x="9390888" y="4942332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9195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500" dirty="0"/>
          </a:p>
        </p:txBody>
      </p:sp>
      <p:sp>
        <p:nvSpPr>
          <p:cNvPr id="16" name="tracker stop 7"/>
          <p:cNvSpPr/>
          <p:nvPr/>
        </p:nvSpPr>
        <p:spPr>
          <a:xfrm>
            <a:off x="1122426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3846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585216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4400" dirty="0"/>
          </a:p>
        </p:txBody>
      </p:sp>
      <p:sp>
        <p:nvSpPr>
          <p:cNvPr id="3" name="tracker line"/>
          <p:cNvSpPr/>
          <p:nvPr/>
        </p:nvSpPr>
        <p:spPr>
          <a:xfrm>
            <a:off x="859536" y="5120640"/>
            <a:ext cx="10479024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racker stop 1"/>
          <p:cNvSpPr/>
          <p:nvPr/>
        </p:nvSpPr>
        <p:spPr>
          <a:xfrm>
            <a:off x="74523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and Recap</a:t>
            </a:r>
            <a:endParaRPr lang="en-US" sz="1500" dirty="0"/>
          </a:p>
        </p:txBody>
      </p:sp>
      <p:sp>
        <p:nvSpPr>
          <p:cNvPr id="6" name="tracker stop 2"/>
          <p:cNvSpPr/>
          <p:nvPr/>
        </p:nvSpPr>
        <p:spPr>
          <a:xfrm>
            <a:off x="249174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594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500" dirty="0"/>
          </a:p>
        </p:txBody>
      </p:sp>
      <p:sp>
        <p:nvSpPr>
          <p:cNvPr id="8" name="tracker stop 3"/>
          <p:cNvSpPr/>
          <p:nvPr/>
        </p:nvSpPr>
        <p:spPr>
          <a:xfrm>
            <a:off x="4238244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2444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1</a:t>
            </a:r>
            <a:endParaRPr lang="en-US" sz="1500" dirty="0"/>
          </a:p>
        </p:txBody>
      </p:sp>
      <p:sp>
        <p:nvSpPr>
          <p:cNvPr id="10" name="tracker stop 4"/>
          <p:cNvSpPr/>
          <p:nvPr/>
        </p:nvSpPr>
        <p:spPr>
          <a:xfrm>
            <a:off x="5984748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98948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500" dirty="0"/>
          </a:p>
        </p:txBody>
      </p:sp>
      <p:sp>
        <p:nvSpPr>
          <p:cNvPr id="12" name="tracker stop 5"/>
          <p:cNvSpPr/>
          <p:nvPr/>
        </p:nvSpPr>
        <p:spPr>
          <a:xfrm>
            <a:off x="7731252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5452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2</a:t>
            </a:r>
            <a:endParaRPr lang="en-US" sz="1500" dirty="0"/>
          </a:p>
        </p:txBody>
      </p:sp>
      <p:sp>
        <p:nvSpPr>
          <p:cNvPr id="14" name="tracker stop 6"/>
          <p:cNvSpPr/>
          <p:nvPr/>
        </p:nvSpPr>
        <p:spPr>
          <a:xfrm>
            <a:off x="947775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9195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500" dirty="0"/>
          </a:p>
        </p:txBody>
      </p:sp>
      <p:sp>
        <p:nvSpPr>
          <p:cNvPr id="16" name="tracker stop 7"/>
          <p:cNvSpPr/>
          <p:nvPr/>
        </p:nvSpPr>
        <p:spPr>
          <a:xfrm>
            <a:off x="11137392" y="4942332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3846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548640"/>
            <a:ext cx="1057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next week</a:t>
            </a:r>
            <a:endParaRPr lang="en-US" sz="3200" dirty="0"/>
          </a:p>
        </p:txBody>
      </p:sp>
      <p:pic>
        <p:nvPicPr>
          <p:cNvPr id="3" name="du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874520"/>
            <a:ext cx="777240" cy="777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18288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AI Update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on the course site by [time] on [date].</a:t>
            </a:r>
            <a:endParaRPr lang="en-US" sz="1800" dirty="0"/>
          </a:p>
        </p:txBody>
      </p:sp>
      <p:pic>
        <p:nvPicPr>
          <p:cNvPr id="5" name="due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474720"/>
            <a:ext cx="777240" cy="777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828800" y="34290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work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Project: Step 5</a:t>
            </a:r>
            <a:endParaRPr lang="en-US" sz="1800" dirty="0"/>
          </a:p>
        </p:txBody>
      </p:sp>
      <p:sp>
        <p:nvSpPr>
          <p:cNvPr id="7" name="contact box"/>
          <p:cNvSpPr/>
          <p:nvPr/>
        </p:nvSpPr>
        <p:spPr>
          <a:xfrm>
            <a:off x="7223760" y="1783080"/>
            <a:ext cx="4160520" cy="42062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question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965960"/>
            <a:ext cx="1143000" cy="11430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49808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7498080" y="37033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address]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[Day and time]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[Location]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appointment needed. You can also email me to set up a video meeting.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chrome">
  <a:themeElements>
    <a:clrScheme name="Monochrome">
      <a:dk1>
        <a:srgbClr val="000000"/>
      </a:dk1>
      <a:lt1>
        <a:srgbClr val="FFFFFF"/>
      </a:lt1>
      <a:dk2>
        <a:srgbClr val="262626"/>
      </a:dk2>
      <a:lt2>
        <a:srgbClr val="F2F2F2"/>
      </a:lt2>
      <a:accent1>
        <a:srgbClr val="000000"/>
      </a:accent1>
      <a:accent2>
        <a:srgbClr val="595959"/>
      </a:accent2>
      <a:accent3>
        <a:srgbClr val="8C8C8C"/>
      </a:accent3>
      <a:accent4>
        <a:srgbClr val="BFBFBF"/>
      </a:accent4>
      <a:accent5>
        <a:srgbClr val="D9D9D9"/>
      </a:accent5>
      <a:accent6>
        <a:srgbClr val="F2F2F2"/>
      </a:accent6>
      <a:hlink>
        <a:srgbClr val="000000"/>
      </a:hlink>
      <a:folHlink>
        <a:srgbClr val="595959"/>
      </a:folHlink>
    </a:clrScheme>
    <a:fontScheme name="Monochrom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and Legal Research, Week 2 (generalized, black and white)</dc:title>
  <dc:subject>PptxGenJS Presentation</dc:subject>
  <dc:creator>PptxGenJS</dc:creator>
  <cp:lastModifiedBy>PptxGenJS</cp:lastModifiedBy>
  <cp:revision>1</cp:revision>
  <dcterms:created xsi:type="dcterms:W3CDTF">2026-10-28T20:40:11Z</dcterms:created>
  <dcterms:modified xsi:type="dcterms:W3CDTF">2026-10-28T20:40:11Z</dcterms:modified>
</cp:coreProperties>
</file>