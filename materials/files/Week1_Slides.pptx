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f8d3a16-e649-a972-528b-f1f466df46b5}">
          <p14:sldIdLst>
            <p14:sldId id="256"/>
            <p14:sldId id="257"/>
          </p14:sldIdLst>
        </p14:section>
        <p14:section name="Course Overview" id="{40842c24-433e-08d6-e9d1-fc5432e31a1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Introduction to AI" id="{77eeb659-c66c-9d08-6081-405b296969ce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rompting" id="{dc803fdc-2b05-4aee-368d-51689fa24e09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Break" id="{502a909c-b21e-bc78-aea2-4bc334f7dd4b}">
          <p14:sldIdLst>
            <p14:sldId id="286"/>
          </p14:sldIdLst>
        </p14:section>
        <p14:section name="Individual Work" id="{c0c4ed58-dfbe-089a-fee4-b2ccc7da9027}">
          <p14:sldIdLst>
            <p14:sldId id="287"/>
          </p14:sldIdLst>
        </p14:section>
        <p14:section name="Group Work" id="{3a9cf93e-8358-1dce-f1f6-d05858770f00}">
          <p14:sldIdLst>
            <p14:sldId id="288"/>
          </p14:sldIdLst>
        </p14:section>
        <p14:section name="Reflection" id="{59ff33e4-63c4-eb98-d6ee-a555c148828a}">
          <p14:sldIdLst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0000"/>
              </a:solidFill>
              <a:effectLst/>
            </c:spPr>
          </c:dPt>
          <c:dPt>
            <c:idx val="1"/>
            <c:bubble3D val="0"/>
            <c:spPr>
              <a:solidFill>
                <a:srgbClr val="595959"/>
              </a:solidFill>
              <a:effectLst/>
            </c:spPr>
          </c:dPt>
          <c:dPt>
            <c:idx val="2"/>
            <c:bubble3D val="0"/>
            <c:spPr>
              <a:solidFill>
                <a:srgbClr val="A6A6A6"/>
              </a:solidFill>
              <a:effectLst/>
            </c:spPr>
          </c:dPt>
          <c:dPt>
            <c:idx val="3"/>
            <c:bubble3D val="0"/>
            <c:spPr>
              <a:solidFill>
                <a:srgbClr val="D9D9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Final Capstone Project</c:v>
                </c:pt>
                <c:pt idx="1">
                  <c:v>Weekly AI Updates</c:v>
                </c:pt>
                <c:pt idx="2">
                  <c:v>AI Deep Dive</c:v>
                </c:pt>
                <c:pt idx="3">
                  <c:v>In-Class Work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14984"/>
            <a:ext cx="10661904" cy="3977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280160" y="2011680"/>
            <a:ext cx="97840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280160" y="3017520"/>
            <a:ext cx="9784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PICTUR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606040"/>
            <a:ext cx="11274552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1417320"/>
            <a:ext cx="10570464" cy="320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3816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Legal Research  ·  Week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1417320"/>
            <a:ext cx="10570464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3816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Legal Research  ·  Week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slideLayout" Target="../slideLayouts/slideLayout5.xml"/><Relationship Id="rId2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280160" y="201168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Legal Research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280160" y="30175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How the Course Works, How Generative AI Works, and How to Prompt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978408" y="548640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[Instructor name] ([email address])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[Institution]  ·  [Date]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4688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3931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22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2468880"/>
            <a:ext cx="118872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547872" y="3931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22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2468880"/>
            <a:ext cx="118872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81928" y="3931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2200" dirty="0"/>
          </a:p>
        </p:txBody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2468880"/>
            <a:ext cx="118872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15984" y="39319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 and Reflection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658368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Experiential simulation requirements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120" y="25146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25196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lecture</a:t>
            </a:r>
            <a:endParaRPr lang="en-US" sz="26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2514600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59224" y="425196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</a:t>
            </a:r>
            <a:endParaRPr lang="en-US" sz="26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936" y="2514600"/>
            <a:ext cx="1463040" cy="1463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04632" y="425196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of Grade</a:t>
            </a:r>
            <a:endParaRPr lang="en-US" sz="2200" dirty="0"/>
          </a:p>
        </p:txBody>
      </p:sp>
      <p:sp>
        <p:nvSpPr>
          <p:cNvPr id="4" name="column rule"/>
          <p:cNvSpPr/>
          <p:nvPr/>
        </p:nvSpPr>
        <p:spPr>
          <a:xfrm>
            <a:off x="813816" y="2194560"/>
            <a:ext cx="4937760" cy="27432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5" name="grade pie" descr=""/>
          <p:cNvGraphicFramePr/>
          <p:nvPr/>
        </p:nvGraphicFramePr>
        <p:xfrm>
          <a:off x="640080" y="23774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91656" y="169164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7" name="column rule"/>
          <p:cNvSpPr/>
          <p:nvPr/>
        </p:nvSpPr>
        <p:spPr>
          <a:xfrm>
            <a:off x="6391656" y="2194560"/>
            <a:ext cx="4992624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91656" y="2377440"/>
            <a:ext cx="4992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grading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Project (45%):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[date]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Updates (20%):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five required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Deep Dive (20%):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[date]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Work (15%):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each class</a:t>
            </a:r>
            <a:endParaRPr lang="en-US" sz="1700" dirty="0"/>
          </a:p>
        </p:txBody>
      </p:sp>
      <p:sp>
        <p:nvSpPr>
          <p:cNvPr id="9" name="late policy callout"/>
          <p:cNvSpPr/>
          <p:nvPr/>
        </p:nvSpPr>
        <p:spPr>
          <a:xfrm>
            <a:off x="6391656" y="5120640"/>
            <a:ext cx="4992624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512064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work passes at 95% when you submit it on time, and at 85% when you submit it late.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work (15% of final grade, pass/fail)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651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or individual</a:t>
            </a:r>
            <a:endParaRPr lang="en-US" sz="21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2651760"/>
            <a:ext cx="118872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547872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until 9:00 a.m. the next day</a:t>
            </a:r>
            <a:endParaRPr lang="en-US" sz="21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2651760"/>
            <a:ext cx="118872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81928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up the work if you miss class</a:t>
            </a:r>
            <a:endParaRPr lang="en-US" sz="2100" dirty="0"/>
          </a:p>
        </p:txBody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2651760"/>
            <a:ext cx="118872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15984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Good-faith standard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Updates (20% of final grade, pass/fail)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651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 item and post</a:t>
            </a:r>
            <a:endParaRPr lang="en-US" sz="21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2651760"/>
            <a:ext cx="118872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547872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discussion</a:t>
            </a:r>
            <a:endParaRPr lang="en-US" sz="21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2651760"/>
            <a:ext cx="118872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81928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of five needed</a:t>
            </a:r>
            <a:endParaRPr lang="en-US" sz="2100" dirty="0"/>
          </a:p>
        </p:txBody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2651760"/>
            <a:ext cx="118872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15984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5% of final grade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Deep Dive (20% of final grade, pass/fail)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2402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37033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course</a:t>
            </a:r>
            <a:endParaRPr lang="en-US" sz="22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2240280"/>
            <a:ext cx="118872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547872" y="37033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22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2240280"/>
            <a:ext cx="118872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81928" y="37033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</a:t>
            </a:r>
            <a:endParaRPr lang="en-US" sz="2200" dirty="0"/>
          </a:p>
        </p:txBody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2240280"/>
            <a:ext cx="118872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15984" y="370332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paper</a:t>
            </a:r>
            <a:endParaRPr lang="en-US" sz="2200" dirty="0"/>
          </a:p>
        </p:txBody>
      </p:sp>
      <p:sp>
        <p:nvSpPr>
          <p:cNvPr id="11" name="due date box"/>
          <p:cNvSpPr/>
          <p:nvPr/>
        </p:nvSpPr>
        <p:spPr>
          <a:xfrm>
            <a:off x="2258568" y="5074920"/>
            <a:ext cx="768096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pic>
        <p:nvPicPr>
          <p:cNvPr id="12" name="due dat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5212080"/>
            <a:ext cx="594360" cy="5943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383280" y="5074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</a:t>
            </a:r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 and time]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60604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Themes (1 of 2):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for Professional Judgment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1: The Strategist</a:t>
            </a:r>
            <a:endParaRPr lang="en-US" sz="3200" dirty="0"/>
          </a:p>
        </p:txBody>
      </p:sp>
      <p:pic>
        <p:nvPicPr>
          <p:cNvPr id="3" name="The Strategi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402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557016" y="19202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articulate the research issue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557016" y="315468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sources, other background materials, brainstorming</a:t>
            </a:r>
            <a:endParaRPr lang="en-US" sz="2200" dirty="0"/>
          </a:p>
        </p:txBody>
      </p:sp>
      <p:sp>
        <p:nvSpPr>
          <p:cNvPr id="6" name="secondary role box"/>
          <p:cNvSpPr/>
          <p:nvPr/>
        </p:nvSpPr>
        <p:spPr>
          <a:xfrm>
            <a:off x="7699248" y="1682496"/>
            <a:ext cx="3685032" cy="35661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7" name="Translato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24" y="187452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64424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Role: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7964424" y="3931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research issue into a prompt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13816" y="5440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Steps 1 to 3</a:t>
            </a:r>
            <a:endParaRPr lang="en-US" sz="1500" dirty="0"/>
          </a:p>
        </p:txBody>
      </p:sp>
      <p:sp>
        <p:nvSpPr>
          <p:cNvPr id="11" name="step 1"/>
          <p:cNvSpPr/>
          <p:nvPr/>
        </p:nvSpPr>
        <p:spPr>
          <a:xfrm>
            <a:off x="3383280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8328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tep 2"/>
          <p:cNvSpPr/>
          <p:nvPr/>
        </p:nvSpPr>
        <p:spPr>
          <a:xfrm>
            <a:off x="4150462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50462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tep 3"/>
          <p:cNvSpPr/>
          <p:nvPr/>
        </p:nvSpPr>
        <p:spPr>
          <a:xfrm>
            <a:off x="4917643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917643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tep 4"/>
          <p:cNvSpPr/>
          <p:nvPr/>
        </p:nvSpPr>
        <p:spPr>
          <a:xfrm>
            <a:off x="5684825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84825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tep 5"/>
          <p:cNvSpPr/>
          <p:nvPr/>
        </p:nvSpPr>
        <p:spPr>
          <a:xfrm>
            <a:off x="6452006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52006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tep 6"/>
          <p:cNvSpPr/>
          <p:nvPr/>
        </p:nvSpPr>
        <p:spPr>
          <a:xfrm>
            <a:off x="7219188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19188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tep 7"/>
          <p:cNvSpPr/>
          <p:nvPr/>
        </p:nvSpPr>
        <p:spPr>
          <a:xfrm>
            <a:off x="7986370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8637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tep 8"/>
          <p:cNvSpPr/>
          <p:nvPr/>
        </p:nvSpPr>
        <p:spPr>
          <a:xfrm>
            <a:off x="8753551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753551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tep 9"/>
          <p:cNvSpPr/>
          <p:nvPr/>
        </p:nvSpPr>
        <p:spPr>
          <a:xfrm>
            <a:off x="9520733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20733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step 10"/>
          <p:cNvSpPr/>
          <p:nvPr/>
        </p:nvSpPr>
        <p:spPr>
          <a:xfrm>
            <a:off x="10287914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287914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step 11"/>
          <p:cNvSpPr/>
          <p:nvPr/>
        </p:nvSpPr>
        <p:spPr>
          <a:xfrm>
            <a:off x="11055096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055096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Tedjeske Crane,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Legal Research Students to Be the “Human in the Loop,”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 Persp.: Teaching Legal Rsch. &amp; Writing 90 (2026).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2: The Analyst</a:t>
            </a:r>
            <a:endParaRPr lang="en-US" sz="3200" dirty="0"/>
          </a:p>
        </p:txBody>
      </p:sp>
      <p:pic>
        <p:nvPicPr>
          <p:cNvPr id="3" name="The Analy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402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557016" y="19202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quality and usefulness of the AI research report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557016" y="315468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judgment; traditional research resources and techniques</a:t>
            </a:r>
            <a:endParaRPr lang="en-US" sz="2200" dirty="0"/>
          </a:p>
        </p:txBody>
      </p:sp>
      <p:sp>
        <p:nvSpPr>
          <p:cNvPr id="6" name="secondary role box"/>
          <p:cNvSpPr/>
          <p:nvPr/>
        </p:nvSpPr>
        <p:spPr>
          <a:xfrm>
            <a:off x="7699248" y="1682496"/>
            <a:ext cx="3685032" cy="35661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7" name="Scou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24" y="187452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64424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Role: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7964424" y="3931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completeness, not just accuracy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13816" y="5440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Steps 4 to 6</a:t>
            </a:r>
            <a:endParaRPr lang="en-US" sz="1500" dirty="0"/>
          </a:p>
        </p:txBody>
      </p:sp>
      <p:sp>
        <p:nvSpPr>
          <p:cNvPr id="11" name="step 1"/>
          <p:cNvSpPr/>
          <p:nvPr/>
        </p:nvSpPr>
        <p:spPr>
          <a:xfrm>
            <a:off x="3383280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8328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tep 2"/>
          <p:cNvSpPr/>
          <p:nvPr/>
        </p:nvSpPr>
        <p:spPr>
          <a:xfrm>
            <a:off x="4150462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50462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tep 3"/>
          <p:cNvSpPr/>
          <p:nvPr/>
        </p:nvSpPr>
        <p:spPr>
          <a:xfrm>
            <a:off x="4917643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917643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tep 4"/>
          <p:cNvSpPr/>
          <p:nvPr/>
        </p:nvSpPr>
        <p:spPr>
          <a:xfrm>
            <a:off x="5684825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84825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tep 5"/>
          <p:cNvSpPr/>
          <p:nvPr/>
        </p:nvSpPr>
        <p:spPr>
          <a:xfrm>
            <a:off x="6452006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52006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tep 6"/>
          <p:cNvSpPr/>
          <p:nvPr/>
        </p:nvSpPr>
        <p:spPr>
          <a:xfrm>
            <a:off x="7219188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19188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tep 7"/>
          <p:cNvSpPr/>
          <p:nvPr/>
        </p:nvSpPr>
        <p:spPr>
          <a:xfrm>
            <a:off x="7986370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8637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tep 8"/>
          <p:cNvSpPr/>
          <p:nvPr/>
        </p:nvSpPr>
        <p:spPr>
          <a:xfrm>
            <a:off x="8753551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753551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tep 9"/>
          <p:cNvSpPr/>
          <p:nvPr/>
        </p:nvSpPr>
        <p:spPr>
          <a:xfrm>
            <a:off x="9520733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20733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step 10"/>
          <p:cNvSpPr/>
          <p:nvPr/>
        </p:nvSpPr>
        <p:spPr>
          <a:xfrm>
            <a:off x="10287914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287914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step 11"/>
          <p:cNvSpPr/>
          <p:nvPr/>
        </p:nvSpPr>
        <p:spPr>
          <a:xfrm>
            <a:off x="11055096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055096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Tedjeske Crane,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Legal Research Students to Be the “Human in the Loop,”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 Persp.: Teaching Legal Rsch. &amp; Writing 90 (2026).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3: The Decision-Maker</a:t>
            </a:r>
            <a:endParaRPr lang="en-US" sz="3200" dirty="0"/>
          </a:p>
        </p:txBody>
      </p:sp>
      <p:pic>
        <p:nvPicPr>
          <p:cNvPr id="3" name="The Decision-Mak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2402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557016" y="19202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authority to rely on in final work product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3557016" y="315468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judgment</a:t>
            </a:r>
            <a:endParaRPr lang="en-US" sz="2200" dirty="0"/>
          </a:p>
        </p:txBody>
      </p:sp>
      <p:sp>
        <p:nvSpPr>
          <p:cNvPr id="6" name="secondary role box"/>
          <p:cNvSpPr/>
          <p:nvPr/>
        </p:nvSpPr>
        <p:spPr>
          <a:xfrm>
            <a:off x="7699248" y="1682496"/>
            <a:ext cx="3685032" cy="35661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7" name="Communicato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124" y="1874520"/>
            <a:ext cx="1097280" cy="1097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64424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Role: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Communicator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7964424" y="3931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cited authority supports the legal analysis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13816" y="5440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Steps 7 to 11</a:t>
            </a:r>
            <a:endParaRPr lang="en-US" sz="1500" dirty="0"/>
          </a:p>
        </p:txBody>
      </p:sp>
      <p:sp>
        <p:nvSpPr>
          <p:cNvPr id="11" name="step 1"/>
          <p:cNvSpPr/>
          <p:nvPr/>
        </p:nvSpPr>
        <p:spPr>
          <a:xfrm>
            <a:off x="3383280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8328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tep 2"/>
          <p:cNvSpPr/>
          <p:nvPr/>
        </p:nvSpPr>
        <p:spPr>
          <a:xfrm>
            <a:off x="4150462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50462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tep 3"/>
          <p:cNvSpPr/>
          <p:nvPr/>
        </p:nvSpPr>
        <p:spPr>
          <a:xfrm>
            <a:off x="4917643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917643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tep 4"/>
          <p:cNvSpPr/>
          <p:nvPr/>
        </p:nvSpPr>
        <p:spPr>
          <a:xfrm>
            <a:off x="5684825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84825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tep 5"/>
          <p:cNvSpPr/>
          <p:nvPr/>
        </p:nvSpPr>
        <p:spPr>
          <a:xfrm>
            <a:off x="6452006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52006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tep 6"/>
          <p:cNvSpPr/>
          <p:nvPr/>
        </p:nvSpPr>
        <p:spPr>
          <a:xfrm>
            <a:off x="7219188" y="54406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219188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tep 7"/>
          <p:cNvSpPr/>
          <p:nvPr/>
        </p:nvSpPr>
        <p:spPr>
          <a:xfrm>
            <a:off x="7986370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8637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tep 8"/>
          <p:cNvSpPr/>
          <p:nvPr/>
        </p:nvSpPr>
        <p:spPr>
          <a:xfrm>
            <a:off x="8753551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753551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tep 9"/>
          <p:cNvSpPr/>
          <p:nvPr/>
        </p:nvSpPr>
        <p:spPr>
          <a:xfrm>
            <a:off x="9520733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20733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step 10"/>
          <p:cNvSpPr/>
          <p:nvPr/>
        </p:nvSpPr>
        <p:spPr>
          <a:xfrm>
            <a:off x="10287914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287914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step 11"/>
          <p:cNvSpPr/>
          <p:nvPr/>
        </p:nvSpPr>
        <p:spPr>
          <a:xfrm>
            <a:off x="11055096" y="5440680"/>
            <a:ext cx="329184" cy="329184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055096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Tedjeske Crane,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Legal Research Students to Be the “Human in the Loop,”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32 Persp.: Teaching Legal Rsch. &amp; Writing 90 (2026).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606040"/>
            <a:ext cx="11274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Themes (2 of 2):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Toe-Hold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tunnel to toe-hold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100" dirty="0"/>
          </a:p>
        </p:txBody>
      </p:sp>
      <p:sp>
        <p:nvSpPr>
          <p:cNvPr id="4" name="column rule"/>
          <p:cNvSpPr/>
          <p:nvPr/>
        </p:nvSpPr>
        <p:spPr>
          <a:xfrm>
            <a:off x="813816" y="2194560"/>
            <a:ext cx="301752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2628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100" dirty="0"/>
          </a:p>
        </p:txBody>
      </p:sp>
      <p:sp>
        <p:nvSpPr>
          <p:cNvPr id="6" name="column rule"/>
          <p:cNvSpPr/>
          <p:nvPr/>
        </p:nvSpPr>
        <p:spPr>
          <a:xfrm>
            <a:off x="4526280" y="2194560"/>
            <a:ext cx="685800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divider"/>
          <p:cNvSpPr/>
          <p:nvPr/>
        </p:nvSpPr>
        <p:spPr>
          <a:xfrm>
            <a:off x="4178808" y="1737360"/>
            <a:ext cx="0" cy="38404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8" name="tunn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834640"/>
            <a:ext cx="1463040" cy="1463040"/>
          </a:xfrm>
          <a:prstGeom prst="rect">
            <a:avLst/>
          </a:prstGeom>
        </p:spPr>
      </p:pic>
      <p:pic>
        <p:nvPicPr>
          <p:cNvPr id="9" name="toe-hol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834640"/>
            <a:ext cx="1463040" cy="1463040"/>
          </a:xfrm>
          <a:prstGeom prst="rect">
            <a:avLst/>
          </a:prstGeom>
        </p:spPr>
      </p:pic>
      <p:pic>
        <p:nvPicPr>
          <p:cNvPr id="10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246120"/>
            <a:ext cx="640080" cy="640080"/>
          </a:xfrm>
          <a:prstGeom prst="rect">
            <a:avLst/>
          </a:prstGeom>
        </p:spPr>
      </p:pic>
      <p:pic>
        <p:nvPicPr>
          <p:cNvPr id="11" name="pivo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834640"/>
            <a:ext cx="1463040" cy="14630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9536" y="4526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trapped in an “AI tunnel”</a:t>
            </a:r>
            <a:endParaRPr lang="en-US" sz="1800" dirty="0"/>
          </a:p>
        </p:txBody>
      </p:sp>
      <p:sp>
        <p:nvSpPr>
          <p:cNvPr id="13" name="Text 7"/>
          <p:cNvSpPr txBox="1"/>
          <p:nvPr/>
        </p:nvSpPr>
        <p:spPr>
          <a:xfrm>
            <a:off x="4526280" y="4526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toe-hold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8458200" y="4526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to traditional research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Rebecca Fordon,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Research Trapping You in an “AI Tunnel”? Use a Toe-hold to Get Out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AI Law Librarians (Oct. 28, 2025), https://www.ailawlibrarians.com/2025/10/28/legal-research-trapping-you-in-an-ai-tunnel-use-a-toe-hold-to-get-out/.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Capstone Project (45% of final grade)</a:t>
            </a:r>
            <a:endParaRPr lang="en-US" sz="3200" dirty="0"/>
          </a:p>
        </p:txBody>
      </p:sp>
      <p:sp>
        <p:nvSpPr>
          <p:cNvPr id="3" name="Strategist role box"/>
          <p:cNvSpPr/>
          <p:nvPr/>
        </p:nvSpPr>
        <p:spPr>
          <a:xfrm>
            <a:off x="813816" y="1645920"/>
            <a:ext cx="224028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4" name="Strategi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659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36776" y="1737360"/>
            <a:ext cx="134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role: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800" dirty="0"/>
          </a:p>
        </p:txBody>
      </p:sp>
      <p:sp>
        <p:nvSpPr>
          <p:cNvPr id="6" name="step 1 card"/>
          <p:cNvSpPr/>
          <p:nvPr/>
        </p:nvSpPr>
        <p:spPr>
          <a:xfrm>
            <a:off x="3236976" y="1645920"/>
            <a:ext cx="2484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step 1 badge"/>
          <p:cNvSpPr/>
          <p:nvPr/>
        </p:nvSpPr>
        <p:spPr>
          <a:xfrm>
            <a:off x="3310128" y="1719072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10128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step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88536" y="1719072"/>
            <a:ext cx="1368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Research Plan</a:t>
            </a:r>
            <a:endParaRPr lang="en-US" sz="1300" dirty="0"/>
          </a:p>
        </p:txBody>
      </p:sp>
      <p:pic>
        <p:nvPicPr>
          <p:cNvPr id="11" name="step 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92" y="2148840"/>
            <a:ext cx="182880" cy="182880"/>
          </a:xfrm>
          <a:prstGeom prst="rect">
            <a:avLst/>
          </a:prstGeom>
        </p:spPr>
      </p:pic>
      <p:sp>
        <p:nvSpPr>
          <p:cNvPr id="12" name="step 2 card"/>
          <p:cNvSpPr/>
          <p:nvPr/>
        </p:nvSpPr>
        <p:spPr>
          <a:xfrm>
            <a:off x="6068568" y="1645920"/>
            <a:ext cx="2484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step 2 badge"/>
          <p:cNvSpPr/>
          <p:nvPr/>
        </p:nvSpPr>
        <p:spPr>
          <a:xfrm>
            <a:off x="6141720" y="1719072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141720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5" name="step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48" y="210312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20128" y="1719072"/>
            <a:ext cx="1368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 General-Purpose AI Tool</a:t>
            </a:r>
            <a:endParaRPr lang="en-US" sz="1300" dirty="0"/>
          </a:p>
        </p:txBody>
      </p:sp>
      <p:pic>
        <p:nvPicPr>
          <p:cNvPr id="17" name="step arrow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984" y="2148840"/>
            <a:ext cx="182880" cy="182880"/>
          </a:xfrm>
          <a:prstGeom prst="rect">
            <a:avLst/>
          </a:prstGeom>
        </p:spPr>
      </p:pic>
      <p:sp>
        <p:nvSpPr>
          <p:cNvPr id="18" name="step 3 card"/>
          <p:cNvSpPr/>
          <p:nvPr/>
        </p:nvSpPr>
        <p:spPr>
          <a:xfrm>
            <a:off x="8900160" y="1645920"/>
            <a:ext cx="2484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step 3 badge"/>
          <p:cNvSpPr/>
          <p:nvPr/>
        </p:nvSpPr>
        <p:spPr>
          <a:xfrm>
            <a:off x="8973312" y="1719072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897331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1" name="step 3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1640" y="2103120"/>
            <a:ext cx="502920" cy="5029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951720" y="1719072"/>
            <a:ext cx="1368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Legal Platforms</a:t>
            </a:r>
            <a:endParaRPr lang="en-US" sz="1300" dirty="0"/>
          </a:p>
        </p:txBody>
      </p:sp>
      <p:sp>
        <p:nvSpPr>
          <p:cNvPr id="23" name="Analyst role box"/>
          <p:cNvSpPr/>
          <p:nvPr/>
        </p:nvSpPr>
        <p:spPr>
          <a:xfrm>
            <a:off x="813816" y="2944368"/>
            <a:ext cx="224028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24" name="Analys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3264408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636776" y="3035808"/>
            <a:ext cx="134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role: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1800" dirty="0"/>
          </a:p>
        </p:txBody>
      </p:sp>
      <p:sp>
        <p:nvSpPr>
          <p:cNvPr id="26" name="step 4 card"/>
          <p:cNvSpPr/>
          <p:nvPr/>
        </p:nvSpPr>
        <p:spPr>
          <a:xfrm>
            <a:off x="3236976" y="2944368"/>
            <a:ext cx="2484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step 4 badge"/>
          <p:cNvSpPr/>
          <p:nvPr/>
        </p:nvSpPr>
        <p:spPr>
          <a:xfrm>
            <a:off x="3310128" y="3017520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3310128" y="3017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9" name="step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456" y="3401568"/>
            <a:ext cx="502920" cy="50292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288536" y="3017520"/>
            <a:ext cx="1368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Output for Toe‑Holds</a:t>
            </a:r>
            <a:endParaRPr lang="en-US" sz="1300" dirty="0"/>
          </a:p>
        </p:txBody>
      </p:sp>
      <p:pic>
        <p:nvPicPr>
          <p:cNvPr id="31" name="step arrow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3392" y="3447288"/>
            <a:ext cx="182880" cy="182880"/>
          </a:xfrm>
          <a:prstGeom prst="rect">
            <a:avLst/>
          </a:prstGeom>
        </p:spPr>
      </p:pic>
      <p:sp>
        <p:nvSpPr>
          <p:cNvPr id="32" name="step 5 card"/>
          <p:cNvSpPr/>
          <p:nvPr/>
        </p:nvSpPr>
        <p:spPr>
          <a:xfrm>
            <a:off x="6068568" y="2944368"/>
            <a:ext cx="2484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tep 5 badge"/>
          <p:cNvSpPr/>
          <p:nvPr/>
        </p:nvSpPr>
        <p:spPr>
          <a:xfrm>
            <a:off x="6141720" y="3017520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23"/>
          <p:cNvSpPr txBox="1"/>
          <p:nvPr/>
        </p:nvSpPr>
        <p:spPr>
          <a:xfrm>
            <a:off x="6141720" y="3017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5" name="step 5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0048" y="3401568"/>
            <a:ext cx="502920" cy="50292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120128" y="3017520"/>
            <a:ext cx="1368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Review a Secondary Source for Toe‑Holds</a:t>
            </a:r>
            <a:endParaRPr lang="en-US" sz="1300" dirty="0"/>
          </a:p>
        </p:txBody>
      </p:sp>
      <p:pic>
        <p:nvPicPr>
          <p:cNvPr id="37" name="step arrow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4984" y="3447288"/>
            <a:ext cx="182880" cy="182880"/>
          </a:xfrm>
          <a:prstGeom prst="rect">
            <a:avLst/>
          </a:prstGeom>
        </p:spPr>
      </p:pic>
      <p:sp>
        <p:nvSpPr>
          <p:cNvPr id="38" name="step 6 card"/>
          <p:cNvSpPr/>
          <p:nvPr/>
        </p:nvSpPr>
        <p:spPr>
          <a:xfrm>
            <a:off x="8900160" y="2944368"/>
            <a:ext cx="2484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step 6 badge"/>
          <p:cNvSpPr/>
          <p:nvPr/>
        </p:nvSpPr>
        <p:spPr>
          <a:xfrm>
            <a:off x="8973312" y="3017520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27"/>
          <p:cNvSpPr txBox="1"/>
          <p:nvPr/>
        </p:nvSpPr>
        <p:spPr>
          <a:xfrm>
            <a:off x="8973312" y="3017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41" name="step 6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11640" y="3401568"/>
            <a:ext cx="502920" cy="50292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9951720" y="3017520"/>
            <a:ext cx="136855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Expand with Traditional Research</a:t>
            </a:r>
            <a:endParaRPr lang="en-US" sz="1300" dirty="0"/>
          </a:p>
        </p:txBody>
      </p:sp>
      <p:sp>
        <p:nvSpPr>
          <p:cNvPr id="43" name="Decision-Maker role box"/>
          <p:cNvSpPr/>
          <p:nvPr/>
        </p:nvSpPr>
        <p:spPr>
          <a:xfrm>
            <a:off x="813816" y="4242816"/>
            <a:ext cx="224028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44" name="Decision-Maker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76" y="4562856"/>
            <a:ext cx="548640" cy="54864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1636776" y="4334256"/>
            <a:ext cx="1344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role: </a:t>
            </a:r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Communicator</a:t>
            </a:r>
            <a:endParaRPr lang="en-US" sz="1800" dirty="0"/>
          </a:p>
        </p:txBody>
      </p:sp>
      <p:sp>
        <p:nvSpPr>
          <p:cNvPr id="46" name="step 7 card"/>
          <p:cNvSpPr/>
          <p:nvPr/>
        </p:nvSpPr>
        <p:spPr>
          <a:xfrm>
            <a:off x="3236976" y="4242816"/>
            <a:ext cx="14392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step 7 badge"/>
          <p:cNvSpPr/>
          <p:nvPr/>
        </p:nvSpPr>
        <p:spPr>
          <a:xfrm>
            <a:off x="3310128" y="4315968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8" name="Text 33"/>
          <p:cNvSpPr txBox="1"/>
          <p:nvPr/>
        </p:nvSpPr>
        <p:spPr>
          <a:xfrm>
            <a:off x="3310128" y="4315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49" name="step 7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5441" y="4389120"/>
            <a:ext cx="402336" cy="40233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3291840" y="4864608"/>
            <a:ext cx="1329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Authority Table</a:t>
            </a:r>
            <a:endParaRPr lang="en-US" sz="1150" dirty="0"/>
          </a:p>
        </p:txBody>
      </p:sp>
      <p:pic>
        <p:nvPicPr>
          <p:cNvPr id="51" name="step arrow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3674" y="4745736"/>
            <a:ext cx="182880" cy="182880"/>
          </a:xfrm>
          <a:prstGeom prst="rect">
            <a:avLst/>
          </a:prstGeom>
        </p:spPr>
      </p:pic>
      <p:sp>
        <p:nvSpPr>
          <p:cNvPr id="52" name="step 8 card"/>
          <p:cNvSpPr/>
          <p:nvPr/>
        </p:nvSpPr>
        <p:spPr>
          <a:xfrm>
            <a:off x="4913986" y="4242816"/>
            <a:ext cx="14392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step 8 badge"/>
          <p:cNvSpPr/>
          <p:nvPr/>
        </p:nvSpPr>
        <p:spPr>
          <a:xfrm>
            <a:off x="4987138" y="4315968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4" name="Text 37"/>
          <p:cNvSpPr txBox="1"/>
          <p:nvPr/>
        </p:nvSpPr>
        <p:spPr>
          <a:xfrm>
            <a:off x="4987138" y="4315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55" name="step 8 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2450" y="4389120"/>
            <a:ext cx="402336" cy="40233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4968850" y="4864608"/>
            <a:ext cx="1329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Memo</a:t>
            </a:r>
            <a:endParaRPr lang="en-US" sz="1150" dirty="0"/>
          </a:p>
        </p:txBody>
      </p:sp>
      <p:pic>
        <p:nvPicPr>
          <p:cNvPr id="57" name="step arrow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0683" y="4745736"/>
            <a:ext cx="182880" cy="182880"/>
          </a:xfrm>
          <a:prstGeom prst="rect">
            <a:avLst/>
          </a:prstGeom>
        </p:spPr>
      </p:pic>
      <p:sp>
        <p:nvSpPr>
          <p:cNvPr id="58" name="step 9 card"/>
          <p:cNvSpPr/>
          <p:nvPr/>
        </p:nvSpPr>
        <p:spPr>
          <a:xfrm>
            <a:off x="6590995" y="4242816"/>
            <a:ext cx="14392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9" name="step 9 badge"/>
          <p:cNvSpPr/>
          <p:nvPr/>
        </p:nvSpPr>
        <p:spPr>
          <a:xfrm>
            <a:off x="6664147" y="4315968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0" name="Text 41"/>
          <p:cNvSpPr txBox="1"/>
          <p:nvPr/>
        </p:nvSpPr>
        <p:spPr>
          <a:xfrm>
            <a:off x="6664147" y="4315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61" name="step 9 icon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09460" y="4389120"/>
            <a:ext cx="402336" cy="402336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6645859" y="4864608"/>
            <a:ext cx="1329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Document Analyzer</a:t>
            </a:r>
            <a:endParaRPr lang="en-US" sz="1150" dirty="0"/>
          </a:p>
        </p:txBody>
      </p:sp>
      <p:pic>
        <p:nvPicPr>
          <p:cNvPr id="63" name="step arrow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7693" y="4745736"/>
            <a:ext cx="182880" cy="182880"/>
          </a:xfrm>
          <a:prstGeom prst="rect">
            <a:avLst/>
          </a:prstGeom>
        </p:spPr>
      </p:pic>
      <p:sp>
        <p:nvSpPr>
          <p:cNvPr id="64" name="step 10 card"/>
          <p:cNvSpPr/>
          <p:nvPr/>
        </p:nvSpPr>
        <p:spPr>
          <a:xfrm>
            <a:off x="8268005" y="4242816"/>
            <a:ext cx="14392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5" name="step 10 badge"/>
          <p:cNvSpPr/>
          <p:nvPr/>
        </p:nvSpPr>
        <p:spPr>
          <a:xfrm>
            <a:off x="8341157" y="4315968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6" name="Text 45"/>
          <p:cNvSpPr txBox="1"/>
          <p:nvPr/>
        </p:nvSpPr>
        <p:spPr>
          <a:xfrm>
            <a:off x="8341157" y="4315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67" name="step 10 icon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86470" y="4389120"/>
            <a:ext cx="402336" cy="402336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8322869" y="4864608"/>
            <a:ext cx="1329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 Feedback on the Draft</a:t>
            </a:r>
            <a:endParaRPr lang="en-US" sz="1150" dirty="0"/>
          </a:p>
        </p:txBody>
      </p:sp>
      <p:pic>
        <p:nvPicPr>
          <p:cNvPr id="69" name="step arrow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4702" y="4745736"/>
            <a:ext cx="182880" cy="182880"/>
          </a:xfrm>
          <a:prstGeom prst="rect">
            <a:avLst/>
          </a:prstGeom>
        </p:spPr>
      </p:pic>
      <p:sp>
        <p:nvSpPr>
          <p:cNvPr id="70" name="step 11 card"/>
          <p:cNvSpPr/>
          <p:nvPr/>
        </p:nvSpPr>
        <p:spPr>
          <a:xfrm>
            <a:off x="9945014" y="4242816"/>
            <a:ext cx="14392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1" name="step 11 badge"/>
          <p:cNvSpPr/>
          <p:nvPr/>
        </p:nvSpPr>
        <p:spPr>
          <a:xfrm>
            <a:off x="10018166" y="4315968"/>
            <a:ext cx="310896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2" name="Text 49"/>
          <p:cNvSpPr txBox="1"/>
          <p:nvPr/>
        </p:nvSpPr>
        <p:spPr>
          <a:xfrm>
            <a:off x="10018166" y="4315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73" name="step 11 icon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63479" y="4389120"/>
            <a:ext cx="402336" cy="402336"/>
          </a:xfrm>
          <a:prstGeom prst="rect">
            <a:avLst/>
          </a:prstGeom>
        </p:spPr>
      </p:pic>
      <p:sp>
        <p:nvSpPr>
          <p:cNvPr id="74" name="Text 50"/>
          <p:cNvSpPr txBox="1"/>
          <p:nvPr/>
        </p:nvSpPr>
        <p:spPr>
          <a:xfrm>
            <a:off x="9999878" y="4864608"/>
            <a:ext cx="13295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Draft</a:t>
            </a:r>
            <a:endParaRPr lang="en-US" sz="1150" dirty="0"/>
          </a:p>
        </p:txBody>
      </p:sp>
      <p:sp>
        <p:nvSpPr>
          <p:cNvPr id="75" name="reflective essay box"/>
          <p:cNvSpPr/>
          <p:nvPr/>
        </p:nvSpPr>
        <p:spPr>
          <a:xfrm>
            <a:off x="813816" y="5586984"/>
            <a:ext cx="10570464" cy="7406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6" name="Text 52"/>
          <p:cNvSpPr txBox="1"/>
          <p:nvPr/>
        </p:nvSpPr>
        <p:spPr>
          <a:xfrm>
            <a:off x="996696" y="5632704"/>
            <a:ext cx="102047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Reflective Essay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AI improve your efficiency, the quality of your work, or your confidence in your answer? How will you design your own research workflow and protect your professional judgment?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capstone (final project) moves through four phases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651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issues</a:t>
            </a:r>
            <a:endParaRPr lang="en-US" sz="22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2651760"/>
            <a:ext cx="1188720" cy="1188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547872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universe of authority</a:t>
            </a:r>
            <a:endParaRPr lang="en-US" sz="22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2651760"/>
            <a:ext cx="1188720" cy="1188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81928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Decide, draft, and improve</a:t>
            </a:r>
            <a:endParaRPr lang="en-US" sz="2200" dirty="0"/>
          </a:p>
        </p:txBody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2" y="2651760"/>
            <a:ext cx="1188720" cy="11887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15984" y="41148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AI for Legal Research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04872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predicts the next word. It does not search.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0020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word is obvious</a:t>
            </a:r>
            <a:endParaRPr lang="en-US" sz="2000" dirty="0"/>
          </a:p>
        </p:txBody>
      </p:sp>
      <p:sp>
        <p:nvSpPr>
          <p:cNvPr id="4" name="column rule"/>
          <p:cNvSpPr/>
          <p:nvPr/>
        </p:nvSpPr>
        <p:spPr>
          <a:xfrm>
            <a:off x="813816" y="2103120"/>
            <a:ext cx="4992624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3816" y="2148840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carries almost all of the probability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2697480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Supreme Court of the United ______”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600" dirty="0"/>
          </a:p>
        </p:txBody>
      </p:sp>
      <p:sp>
        <p:nvSpPr>
          <p:cNvPr id="8" name="bar track"/>
          <p:cNvSpPr/>
          <p:nvPr/>
        </p:nvSpPr>
        <p:spPr>
          <a:xfrm>
            <a:off x="2276856" y="326440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bar States"/>
          <p:cNvSpPr/>
          <p:nvPr/>
        </p:nvSpPr>
        <p:spPr>
          <a:xfrm>
            <a:off x="2276856" y="3264408"/>
            <a:ext cx="2815346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66360" y="32004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</a:t>
            </a:r>
            <a:endParaRPr lang="en-US" sz="1600" dirty="0"/>
          </a:p>
        </p:txBody>
      </p:sp>
      <p:sp>
        <p:nvSpPr>
          <p:cNvPr id="12" name="bar track"/>
          <p:cNvSpPr/>
          <p:nvPr/>
        </p:nvSpPr>
        <p:spPr>
          <a:xfrm>
            <a:off x="2276856" y="363016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bar Kingdom"/>
          <p:cNvSpPr/>
          <p:nvPr/>
        </p:nvSpPr>
        <p:spPr>
          <a:xfrm>
            <a:off x="2276856" y="3630168"/>
            <a:ext cx="36576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66360" y="3566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</a:t>
            </a:r>
            <a:endParaRPr lang="en-US" sz="1600" dirty="0"/>
          </a:p>
        </p:txBody>
      </p:sp>
      <p:sp>
        <p:nvSpPr>
          <p:cNvPr id="16" name="bar track"/>
          <p:cNvSpPr/>
          <p:nvPr/>
        </p:nvSpPr>
        <p:spPr>
          <a:xfrm>
            <a:off x="2276856" y="399592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bar Nations"/>
          <p:cNvSpPr/>
          <p:nvPr/>
        </p:nvSpPr>
        <p:spPr>
          <a:xfrm>
            <a:off x="2276856" y="3995928"/>
            <a:ext cx="36576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6636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160020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word is not obvious</a:t>
            </a:r>
            <a:endParaRPr lang="en-US" sz="2000" dirty="0"/>
          </a:p>
        </p:txBody>
      </p:sp>
      <p:sp>
        <p:nvSpPr>
          <p:cNvPr id="20" name="column rule"/>
          <p:cNvSpPr/>
          <p:nvPr/>
        </p:nvSpPr>
        <p:spPr>
          <a:xfrm>
            <a:off x="6391656" y="2103120"/>
            <a:ext cx="4992624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1656" y="2148840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tokens are plausible, so the model picks one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697480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court held that the ______”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91656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defendant</a:t>
            </a:r>
            <a:endParaRPr lang="en-US" sz="1600" dirty="0"/>
          </a:p>
        </p:txBody>
      </p:sp>
      <p:sp>
        <p:nvSpPr>
          <p:cNvPr id="24" name="bar track"/>
          <p:cNvSpPr/>
          <p:nvPr/>
        </p:nvSpPr>
        <p:spPr>
          <a:xfrm>
            <a:off x="7854696" y="326440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bar defendant"/>
          <p:cNvSpPr/>
          <p:nvPr/>
        </p:nvSpPr>
        <p:spPr>
          <a:xfrm>
            <a:off x="7854696" y="3264408"/>
            <a:ext cx="68250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44200" y="32004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plaintiff</a:t>
            </a:r>
            <a:endParaRPr lang="en-US" sz="1600" dirty="0"/>
          </a:p>
        </p:txBody>
      </p:sp>
      <p:sp>
        <p:nvSpPr>
          <p:cNvPr id="28" name="bar track"/>
          <p:cNvSpPr/>
          <p:nvPr/>
        </p:nvSpPr>
        <p:spPr>
          <a:xfrm>
            <a:off x="7854696" y="363016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bar plaintiff"/>
          <p:cNvSpPr/>
          <p:nvPr/>
        </p:nvSpPr>
        <p:spPr>
          <a:xfrm>
            <a:off x="7854696" y="3630168"/>
            <a:ext cx="540319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744200" y="3566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91656" y="3931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</a:t>
            </a:r>
            <a:endParaRPr lang="en-US" sz="1600" dirty="0"/>
          </a:p>
        </p:txBody>
      </p:sp>
      <p:sp>
        <p:nvSpPr>
          <p:cNvPr id="32" name="bar track"/>
          <p:cNvSpPr/>
          <p:nvPr/>
        </p:nvSpPr>
        <p:spPr>
          <a:xfrm>
            <a:off x="7854696" y="399592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bar trial"/>
          <p:cNvSpPr/>
          <p:nvPr/>
        </p:nvSpPr>
        <p:spPr>
          <a:xfrm>
            <a:off x="7854696" y="3995928"/>
            <a:ext cx="39813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744200" y="3931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391656" y="4297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</a:t>
            </a:r>
            <a:endParaRPr lang="en-US" sz="1600" dirty="0"/>
          </a:p>
        </p:txBody>
      </p:sp>
      <p:sp>
        <p:nvSpPr>
          <p:cNvPr id="36" name="bar track"/>
          <p:cNvSpPr/>
          <p:nvPr/>
        </p:nvSpPr>
        <p:spPr>
          <a:xfrm>
            <a:off x="7854696" y="4361688"/>
            <a:ext cx="2843784" cy="1645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bar statute"/>
          <p:cNvSpPr/>
          <p:nvPr/>
        </p:nvSpPr>
        <p:spPr>
          <a:xfrm>
            <a:off x="7854696" y="4361688"/>
            <a:ext cx="255941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74420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13816" y="4846320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percentages are illustrative, not measured; a real model assigns a probability to every token in its vocabulary.</a:t>
            </a:r>
            <a:endParaRPr lang="en-US" sz="1100" dirty="0"/>
          </a:p>
        </p:txBody>
      </p:sp>
      <p:sp>
        <p:nvSpPr>
          <p:cNvPr id="40" name="takeaway callout"/>
          <p:cNvSpPr/>
          <p:nvPr/>
        </p:nvSpPr>
        <p:spPr>
          <a:xfrm>
            <a:off x="813816" y="5166360"/>
            <a:ext cx="10570464" cy="822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51560" y="5166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the likely next token, not the correct one. A fluent answer is a prediction, so you treat it as a draft that you must verify.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train a model in two steps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20116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365760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Pretraining</a:t>
            </a:r>
            <a:endParaRPr lang="en-US" sz="24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01168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81928" y="365760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Refinement</a:t>
            </a:r>
            <a:endParaRPr lang="en-US" sz="2400" dirty="0"/>
          </a:p>
        </p:txBody>
      </p:sp>
      <p:sp>
        <p:nvSpPr>
          <p:cNvPr id="7" name="try it box"/>
          <p:cNvSpPr/>
          <p:nvPr/>
        </p:nvSpPr>
        <p:spPr>
          <a:xfrm>
            <a:off x="2258568" y="5074920"/>
            <a:ext cx="76809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532888" y="50749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https://caslaskowski.github.io/ai-workbench/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120" y="2560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206240"/>
            <a:ext cx="318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</a:t>
            </a:r>
            <a:endParaRPr lang="en-US" sz="2400" dirty="0"/>
          </a:p>
        </p:txBody>
      </p:sp>
      <p:pic>
        <p:nvPicPr>
          <p:cNvPr id="5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604" y="3063240"/>
            <a:ext cx="365760" cy="365760"/>
          </a:xfrm>
          <a:prstGeom prst="rect">
            <a:avLst/>
          </a:prstGeom>
        </p:spPr>
      </p:pic>
      <p:pic>
        <p:nvPicPr>
          <p:cNvPr id="6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560320"/>
            <a:ext cx="1371600" cy="1371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504944" y="4206240"/>
            <a:ext cx="318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database</a:t>
            </a:r>
            <a:endParaRPr lang="en-US" sz="2400" dirty="0"/>
          </a:p>
        </p:txBody>
      </p:sp>
      <p:pic>
        <p:nvPicPr>
          <p:cNvPr id="8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732" y="3063240"/>
            <a:ext cx="365760" cy="365760"/>
          </a:xfrm>
          <a:prstGeom prst="rect">
            <a:avLst/>
          </a:prstGeom>
        </p:spPr>
      </p:pic>
      <p:pic>
        <p:nvPicPr>
          <p:cNvPr id="9" name="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376" y="2560320"/>
            <a:ext cx="1371600" cy="137160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8196072" y="4206240"/>
            <a:ext cx="318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can fail at three points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2560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24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59224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24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656" y="2560320"/>
            <a:ext cx="1371600" cy="1371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04632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Tokens: what models read and write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82880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chunk of text: a whole word, part of a word, a number, or a punctuation mark.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English, one token averages about four characters.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■"/>
            </a:pPr>
            <a:r>
              <a:rPr lang="en-US" sz="2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split into many tokens because reporter abbreviations and page numbers are unusual strings.</a:t>
            </a:r>
            <a:endParaRPr lang="en-US" sz="2100" dirty="0"/>
          </a:p>
        </p:txBody>
      </p:sp>
      <p:sp>
        <p:nvSpPr>
          <p:cNvPr id="4" name="try it box"/>
          <p:cNvSpPr/>
          <p:nvPr/>
        </p:nvSpPr>
        <p:spPr>
          <a:xfrm>
            <a:off x="813816" y="5120640"/>
            <a:ext cx="566928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120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platform.openai.com/tokenizer</a:t>
            </a:r>
            <a:endParaRPr lang="en-US" sz="1800" dirty="0"/>
          </a:p>
        </p:txBody>
      </p:sp>
      <p:pic>
        <p:nvPicPr>
          <p:cNvPr id="6" name="tok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194560"/>
            <a:ext cx="237744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Tokens: how they affect cost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2560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20624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how AI is priced</a:t>
            </a:r>
            <a:endParaRPr lang="en-US" sz="24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56032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81928" y="420624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inputs and outputs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151376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LLMs and legal platforms differ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2926080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LLM</a:t>
            </a:r>
            <a:endParaRPr lang="en-US" sz="2100" dirty="0"/>
          </a:p>
        </p:txBody>
      </p:sp>
      <p:sp>
        <p:nvSpPr>
          <p:cNvPr id="4" name="column rule"/>
          <p:cNvSpPr/>
          <p:nvPr/>
        </p:nvSpPr>
        <p:spPr>
          <a:xfrm>
            <a:off x="2926080" y="2103120"/>
            <a:ext cx="406908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1600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platform</a:t>
            </a:r>
            <a:endParaRPr lang="en-US" sz="2100" dirty="0"/>
          </a:p>
        </p:txBody>
      </p:sp>
      <p:sp>
        <p:nvSpPr>
          <p:cNvPr id="6" name="column rule"/>
          <p:cNvSpPr/>
          <p:nvPr/>
        </p:nvSpPr>
        <p:spPr>
          <a:xfrm>
            <a:off x="7315200" y="2103120"/>
            <a:ext cx="4069080" cy="27432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row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603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3816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9" name="cell 00"/>
          <p:cNvSpPr/>
          <p:nvPr/>
        </p:nvSpPr>
        <p:spPr>
          <a:xfrm>
            <a:off x="2926080" y="2377440"/>
            <a:ext cx="40690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54680" y="237744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careful. Do not use a non-enterprise tool.</a:t>
            </a:r>
            <a:endParaRPr lang="en-US" sz="2000" dirty="0"/>
          </a:p>
        </p:txBody>
      </p:sp>
      <p:sp>
        <p:nvSpPr>
          <p:cNvPr id="11" name="cell 01"/>
          <p:cNvSpPr/>
          <p:nvPr/>
        </p:nvSpPr>
        <p:spPr>
          <a:xfrm>
            <a:off x="7315200" y="2377440"/>
            <a:ext cx="4069080" cy="15087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43800" y="237744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better protections; still “need to know”</a:t>
            </a:r>
            <a:endParaRPr lang="en-US" sz="2000" dirty="0"/>
          </a:p>
        </p:txBody>
      </p:sp>
      <p:pic>
        <p:nvPicPr>
          <p:cNvPr id="13" name="row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3434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3816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detail</a:t>
            </a:r>
            <a:endParaRPr lang="en-US" sz="1600" dirty="0"/>
          </a:p>
        </p:txBody>
      </p:sp>
      <p:sp>
        <p:nvSpPr>
          <p:cNvPr id="15" name="cell 10"/>
          <p:cNvSpPr/>
          <p:nvPr/>
        </p:nvSpPr>
        <p:spPr>
          <a:xfrm>
            <a:off x="2926080" y="4160520"/>
            <a:ext cx="4069080" cy="150876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154680" y="41605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context</a:t>
            </a:r>
            <a:endParaRPr lang="en-US" sz="2000" dirty="0"/>
          </a:p>
        </p:txBody>
      </p:sp>
      <p:sp>
        <p:nvSpPr>
          <p:cNvPr id="17" name="cell 11"/>
          <p:cNvSpPr/>
          <p:nvPr/>
        </p:nvSpPr>
        <p:spPr>
          <a:xfrm>
            <a:off x="7315200" y="4160520"/>
            <a:ext cx="4069080" cy="15087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43800" y="416052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to the research issue; do not follow general “prompting advice”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 Doing? The “Learn, Build, Polish” Framework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120" y="2240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39776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8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2240280"/>
            <a:ext cx="1463040" cy="1463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59224" y="39776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8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936" y="2240280"/>
            <a:ext cx="1463040" cy="14630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04632" y="39776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2800" dirty="0"/>
          </a:p>
        </p:txBody>
      </p:sp>
      <p:sp>
        <p:nvSpPr>
          <p:cNvPr id="9" name="Text 4"/>
          <p:cNvSpPr txBox="1"/>
          <p:nvPr/>
        </p:nvSpPr>
        <p:spPr>
          <a:xfrm>
            <a:off x="813816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It. Build It. Polish It.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GenAI for Law Students &amp; New Lawyers, Legal Writing Institute (Virtual Conference, May 2026) (with Susan Tanner).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 prompt in four parts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900" dirty="0"/>
          </a:p>
        </p:txBody>
      </p:sp>
      <p:sp>
        <p:nvSpPr>
          <p:cNvPr id="4" name="column rule"/>
          <p:cNvSpPr/>
          <p:nvPr/>
        </p:nvSpPr>
        <p:spPr>
          <a:xfrm>
            <a:off x="813816" y="2103120"/>
            <a:ext cx="42062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0" y="160020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900" dirty="0"/>
          </a:p>
        </p:txBody>
      </p:sp>
      <p:sp>
        <p:nvSpPr>
          <p:cNvPr id="6" name="column rule"/>
          <p:cNvSpPr/>
          <p:nvPr/>
        </p:nvSpPr>
        <p:spPr>
          <a:xfrm>
            <a:off x="5394960" y="2103120"/>
            <a:ext cx="5989320" cy="27432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par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3317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Background/Goal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2860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a law clerk preparing a partner for a first meeting with a client in a residential lease dispute in Pennsylvania.”</a:t>
            </a:r>
            <a:endParaRPr lang="en-US" sz="1500" dirty="0"/>
          </a:p>
        </p:txBody>
      </p:sp>
      <p:sp>
        <p:nvSpPr>
          <p:cNvPr id="10" name="row divider"/>
          <p:cNvSpPr/>
          <p:nvPr/>
        </p:nvSpPr>
        <p:spPr>
          <a:xfrm>
            <a:off x="813816" y="3172968"/>
            <a:ext cx="10570464" cy="10973"/>
          </a:xfrm>
          <a:prstGeom prst="rect">
            <a:avLst/>
          </a:prstGeom>
          <a:solidFill>
            <a:srgbClr val="BFBFBF"/>
          </a:solidFill>
          <a:ln/>
        </p:spPr>
      </p:sp>
      <p:pic>
        <p:nvPicPr>
          <p:cNvPr id="11" name="par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291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246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facts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324612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tenant withheld two months of rent after the landlord did not repair the heat for six weeks in winter.”</a:t>
            </a:r>
            <a:endParaRPr lang="en-US" sz="1500" dirty="0"/>
          </a:p>
        </p:txBody>
      </p:sp>
      <p:sp>
        <p:nvSpPr>
          <p:cNvPr id="14" name="row divider"/>
          <p:cNvSpPr/>
          <p:nvPr/>
        </p:nvSpPr>
        <p:spPr>
          <a:xfrm>
            <a:off x="813816" y="4133088"/>
            <a:ext cx="10570464" cy="10973"/>
          </a:xfrm>
          <a:prstGeom prst="rect">
            <a:avLst/>
          </a:prstGeom>
          <a:solidFill>
            <a:srgbClr val="BFBFBF"/>
          </a:solidFill>
          <a:ln/>
        </p:spPr>
      </p:sp>
      <p:pic>
        <p:nvPicPr>
          <p:cNvPr id="15" name="par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2519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206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output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394960" y="420624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one-page list of questions for the client, grouped by topic.”</a:t>
            </a:r>
            <a:endParaRPr lang="en-US" sz="1500" dirty="0"/>
          </a:p>
        </p:txBody>
      </p:sp>
      <p:sp>
        <p:nvSpPr>
          <p:cNvPr id="18" name="row divider"/>
          <p:cNvSpPr/>
          <p:nvPr/>
        </p:nvSpPr>
        <p:spPr>
          <a:xfrm>
            <a:off x="813816" y="5093208"/>
            <a:ext cx="10570464" cy="10973"/>
          </a:xfrm>
          <a:prstGeom prst="rect">
            <a:avLst/>
          </a:prstGeom>
          <a:solidFill>
            <a:srgbClr val="BFBFBF"/>
          </a:solidFill>
          <a:ln/>
        </p:spPr>
      </p:sp>
      <p:pic>
        <p:nvPicPr>
          <p:cNvPr id="19" name="par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2120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54480" y="5166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516636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plain language, ask no more than 15 questions, and state no legal conclusions.”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ways to prompt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2560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of a document, or summarize it</a:t>
            </a:r>
            <a:endParaRPr lang="en-US" sz="24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59224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documents as samples</a:t>
            </a:r>
            <a:endParaRPr lang="en-US" sz="24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656" y="2560320"/>
            <a:ext cx="1371600" cy="1371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04632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iteratively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Metaprompting: ask the tool for help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900" dirty="0"/>
          </a:p>
        </p:txBody>
      </p:sp>
      <p:sp>
        <p:nvSpPr>
          <p:cNvPr id="4" name="column rule"/>
          <p:cNvSpPr/>
          <p:nvPr/>
        </p:nvSpPr>
        <p:spPr>
          <a:xfrm>
            <a:off x="813816" y="2103120"/>
            <a:ext cx="42062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0" y="160020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900" dirty="0"/>
          </a:p>
        </p:txBody>
      </p:sp>
      <p:sp>
        <p:nvSpPr>
          <p:cNvPr id="6" name="column rule"/>
          <p:cNvSpPr/>
          <p:nvPr/>
        </p:nvSpPr>
        <p:spPr>
          <a:xfrm>
            <a:off x="5394960" y="2103120"/>
            <a:ext cx="5989320" cy="27432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meta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4688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improvements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37744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 is my prompt. Before you answer it, tell me what information is missing, and then rewrite the prompt so that it will produce a better answer.”</a:t>
            </a:r>
            <a:endParaRPr lang="en-US" sz="1600" dirty="0"/>
          </a:p>
        </p:txBody>
      </p:sp>
      <p:sp>
        <p:nvSpPr>
          <p:cNvPr id="10" name="row divider"/>
          <p:cNvSpPr/>
          <p:nvPr/>
        </p:nvSpPr>
        <p:spPr>
          <a:xfrm>
            <a:off x="813816" y="3886200"/>
            <a:ext cx="10570464" cy="10973"/>
          </a:xfrm>
          <a:prstGeom prst="rect">
            <a:avLst/>
          </a:prstGeom>
          <a:solidFill>
            <a:srgbClr val="BFBFBF"/>
          </a:solidFill>
          <a:ln/>
        </p:spPr>
      </p:sp>
      <p:pic>
        <p:nvPicPr>
          <p:cNvPr id="11" name="meta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20624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41148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the tool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4114800"/>
            <a:ext cx="5989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legal research tasks can you do well, which tasks should I not rely on you for, and how should I phrase a request for each task?”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problems</a:t>
            </a:r>
            <a:endParaRPr lang="en-US" sz="3200" dirty="0"/>
          </a:p>
        </p:txBody>
      </p:sp>
      <p:pic>
        <p:nvPicPr>
          <p:cNvPr id="3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2560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or intentional leading</a:t>
            </a:r>
            <a:endParaRPr lang="en-US" sz="2400" dirty="0"/>
          </a:p>
        </p:txBody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59224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premise</a:t>
            </a:r>
            <a:endParaRPr lang="en-US" sz="2400" dirty="0"/>
          </a:p>
        </p:txBody>
      </p:sp>
      <p:pic>
        <p:nvPicPr>
          <p:cNvPr id="7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656" y="2560320"/>
            <a:ext cx="1371600" cy="1371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04632" y="4206240"/>
            <a:ext cx="3279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issues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897880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644384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Work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390888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22426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13232" y="58521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4400" dirty="0"/>
          </a:p>
        </p:txBody>
      </p:sp>
      <p:sp>
        <p:nvSpPr>
          <p:cNvPr id="3" name="tracker line"/>
          <p:cNvSpPr/>
          <p:nvPr/>
        </p:nvSpPr>
        <p:spPr>
          <a:xfrm>
            <a:off x="859536" y="5120640"/>
            <a:ext cx="10479024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racker stop 1"/>
          <p:cNvSpPr/>
          <p:nvPr/>
        </p:nvSpPr>
        <p:spPr>
          <a:xfrm>
            <a:off x="74523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6" name="tracker stop 2"/>
          <p:cNvSpPr/>
          <p:nvPr/>
        </p:nvSpPr>
        <p:spPr>
          <a:xfrm>
            <a:off x="2491740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594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</a:t>
            </a:r>
            <a:endParaRPr lang="en-US" sz="1500" dirty="0"/>
          </a:p>
        </p:txBody>
      </p:sp>
      <p:sp>
        <p:nvSpPr>
          <p:cNvPr id="8" name="tracker stop 3"/>
          <p:cNvSpPr/>
          <p:nvPr/>
        </p:nvSpPr>
        <p:spPr>
          <a:xfrm>
            <a:off x="4238244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500" dirty="0"/>
          </a:p>
        </p:txBody>
      </p:sp>
      <p:sp>
        <p:nvSpPr>
          <p:cNvPr id="10" name="tracker stop 4"/>
          <p:cNvSpPr/>
          <p:nvPr/>
        </p:nvSpPr>
        <p:spPr>
          <a:xfrm>
            <a:off x="5984748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98948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500" dirty="0"/>
          </a:p>
        </p:txBody>
      </p:sp>
      <p:sp>
        <p:nvSpPr>
          <p:cNvPr id="12" name="tracker stop 5"/>
          <p:cNvSpPr/>
          <p:nvPr/>
        </p:nvSpPr>
        <p:spPr>
          <a:xfrm>
            <a:off x="7731252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5452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</a:t>
            </a:r>
            <a:endParaRPr lang="en-US" sz="1500" dirty="0"/>
          </a:p>
        </p:txBody>
      </p:sp>
      <p:sp>
        <p:nvSpPr>
          <p:cNvPr id="14" name="tracker stop 6"/>
          <p:cNvSpPr/>
          <p:nvPr/>
        </p:nvSpPr>
        <p:spPr>
          <a:xfrm>
            <a:off x="9477756" y="5029200"/>
            <a:ext cx="228600" cy="228600"/>
          </a:xfrm>
          <a:prstGeom prst="rect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1956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</a:t>
            </a:r>
            <a:endParaRPr lang="en-US" sz="1500" dirty="0"/>
          </a:p>
        </p:txBody>
      </p:sp>
      <p:sp>
        <p:nvSpPr>
          <p:cNvPr id="16" name="tracker stop 7"/>
          <p:cNvSpPr/>
          <p:nvPr/>
        </p:nvSpPr>
        <p:spPr>
          <a:xfrm>
            <a:off x="11137392" y="4942332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38460" y="54864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13816" y="4572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next week</a:t>
            </a:r>
            <a:endParaRPr lang="en-US" sz="3200" dirty="0"/>
          </a:p>
        </p:txBody>
      </p:sp>
      <p:pic>
        <p:nvPicPr>
          <p:cNvPr id="3" name="du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288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1783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Weekly AI Update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 the course site by [time] on [date].</a:t>
            </a:r>
            <a:endParaRPr lang="en-US" sz="1800" dirty="0"/>
          </a:p>
        </p:txBody>
      </p:sp>
      <p:pic>
        <p:nvPicPr>
          <p:cNvPr id="5" name="du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246120"/>
            <a:ext cx="777240" cy="777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828800" y="3200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approval, if needed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me by [time] on [date] if you choose an unlisted book or a short paper.</a:t>
            </a:r>
            <a:endParaRPr lang="en-US" sz="1800" dirty="0"/>
          </a:p>
        </p:txBody>
      </p:sp>
      <p:pic>
        <p:nvPicPr>
          <p:cNvPr id="7" name="du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663440"/>
            <a:ext cx="777240" cy="7772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82880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work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Project: Steps 1 to 4</a:t>
            </a:r>
            <a:endParaRPr lang="en-US" sz="1800" dirty="0"/>
          </a:p>
        </p:txBody>
      </p:sp>
      <p:sp>
        <p:nvSpPr>
          <p:cNvPr id="9" name="contact box"/>
          <p:cNvSpPr/>
          <p:nvPr/>
        </p:nvSpPr>
        <p:spPr>
          <a:xfrm>
            <a:off x="7223760" y="1783080"/>
            <a:ext cx="4160520" cy="4206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question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965960"/>
            <a:ext cx="1143000" cy="11430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49808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12" name="Text 6"/>
          <p:cNvSpPr txBox="1"/>
          <p:nvPr/>
        </p:nvSpPr>
        <p:spPr>
          <a:xfrm>
            <a:off x="7498080" y="37033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address]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[Day and time]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[Location]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appointment needed. You can also email me to set up a video meeting.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262626"/>
      </a:dk2>
      <a:lt2>
        <a:srgbClr val="F2F2F2"/>
      </a:lt2>
      <a:accent1>
        <a:srgbClr val="000000"/>
      </a:accent1>
      <a:accent2>
        <a:srgbClr val="595959"/>
      </a:accent2>
      <a:accent3>
        <a:srgbClr val="8C8C8C"/>
      </a:accent3>
      <a:accent4>
        <a:srgbClr val="BFBFBF"/>
      </a:accent4>
      <a:accent5>
        <a:srgbClr val="D9D9D9"/>
      </a:accent5>
      <a:accent6>
        <a:srgbClr val="F2F2F2"/>
      </a:accent6>
      <a:hlink>
        <a:srgbClr val="000000"/>
      </a:hlink>
      <a:folHlink>
        <a:srgbClr val="595959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Legal Research, Week 1 (generalized, black and white)</dc:title>
  <dc:subject>PptxGenJS Presentation</dc:subject>
  <dc:creator>PptxGenJS</dc:creator>
  <cp:lastModifiedBy>PptxGenJS</cp:lastModifiedBy>
  <cp:revision>1</cp:revision>
  <dcterms:created xsi:type="dcterms:W3CDTF">2026-10-19T20:12:56Z</dcterms:created>
  <dcterms:modified xsi:type="dcterms:W3CDTF">2026-10-19T20:12:56Z</dcterms:modified>
</cp:coreProperties>
</file>